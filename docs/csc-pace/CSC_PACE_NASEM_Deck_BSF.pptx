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4" r:id="rId8"/>
    <p:sldId id="262" r:id="rId9"/>
    <p:sldId id="263"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6594" autoAdjust="0"/>
  </p:normalViewPr>
  <p:slideViewPr>
    <p:cSldViewPr snapToGrid="0" snapToObjects="1">
      <p:cViewPr varScale="1">
        <p:scale>
          <a:sx n="89" d="100"/>
          <a:sy n="89" d="100"/>
        </p:scale>
        <p:origin x="7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an Ford" userId="a57cfa07ced0ca35" providerId="LiveId" clId="{C586EC6E-5341-44BD-AB98-112E22B4F674}"/>
    <pc:docChg chg="modSld">
      <pc:chgData name="Brian Ford" userId="a57cfa07ced0ca35" providerId="LiveId" clId="{C586EC6E-5341-44BD-AB98-112E22B4F674}" dt="2026-06-10T21:02:35.245" v="6" actId="6549"/>
      <pc:docMkLst>
        <pc:docMk/>
      </pc:docMkLst>
      <pc:sldChg chg="modNotesTx">
        <pc:chgData name="Brian Ford" userId="a57cfa07ced0ca35" providerId="LiveId" clId="{C586EC6E-5341-44BD-AB98-112E22B4F674}" dt="2026-06-10T21:01:57.843" v="0" actId="6549"/>
        <pc:sldMkLst>
          <pc:docMk/>
          <pc:sldMk cId="0" sldId="257"/>
        </pc:sldMkLst>
      </pc:sldChg>
      <pc:sldChg chg="modNotesTx">
        <pc:chgData name="Brian Ford" userId="a57cfa07ced0ca35" providerId="LiveId" clId="{C586EC6E-5341-44BD-AB98-112E22B4F674}" dt="2026-06-10T21:02:03.118" v="1" actId="6549"/>
        <pc:sldMkLst>
          <pc:docMk/>
          <pc:sldMk cId="0" sldId="258"/>
        </pc:sldMkLst>
      </pc:sldChg>
      <pc:sldChg chg="modNotesTx">
        <pc:chgData name="Brian Ford" userId="a57cfa07ced0ca35" providerId="LiveId" clId="{C586EC6E-5341-44BD-AB98-112E22B4F674}" dt="2026-06-10T21:02:07.542" v="2" actId="6549"/>
        <pc:sldMkLst>
          <pc:docMk/>
          <pc:sldMk cId="0" sldId="259"/>
        </pc:sldMkLst>
      </pc:sldChg>
      <pc:sldChg chg="modNotesTx">
        <pc:chgData name="Brian Ford" userId="a57cfa07ced0ca35" providerId="LiveId" clId="{C586EC6E-5341-44BD-AB98-112E22B4F674}" dt="2026-06-10T21:02:12.712" v="3" actId="6549"/>
        <pc:sldMkLst>
          <pc:docMk/>
          <pc:sldMk cId="0" sldId="260"/>
        </pc:sldMkLst>
      </pc:sldChg>
      <pc:sldChg chg="modNotesTx">
        <pc:chgData name="Brian Ford" userId="a57cfa07ced0ca35" providerId="LiveId" clId="{C586EC6E-5341-44BD-AB98-112E22B4F674}" dt="2026-06-10T21:02:20.521" v="4" actId="6549"/>
        <pc:sldMkLst>
          <pc:docMk/>
          <pc:sldMk cId="0" sldId="261"/>
        </pc:sldMkLst>
      </pc:sldChg>
      <pc:sldChg chg="modNotesTx">
        <pc:chgData name="Brian Ford" userId="a57cfa07ced0ca35" providerId="LiveId" clId="{C586EC6E-5341-44BD-AB98-112E22B4F674}" dt="2026-06-10T21:02:28.688" v="5" actId="6549"/>
        <pc:sldMkLst>
          <pc:docMk/>
          <pc:sldMk cId="0" sldId="262"/>
        </pc:sldMkLst>
      </pc:sldChg>
      <pc:sldChg chg="modNotesTx">
        <pc:chgData name="Brian Ford" userId="a57cfa07ced0ca35" providerId="LiveId" clId="{C586EC6E-5341-44BD-AB98-112E22B4F674}" dt="2026-06-10T21:02:35.245" v="6" actId="6549"/>
        <pc:sldMkLst>
          <pc:docMk/>
          <pc:sldMk cId="0" sldId="263"/>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89CA46-B22B-499E-B438-F55B2972E617}" type="doc">
      <dgm:prSet loTypeId="urn:microsoft.com/office/officeart/2005/8/layout/cycle1" loCatId="cycle" qsTypeId="urn:microsoft.com/office/officeart/2005/8/quickstyle/simple1" qsCatId="simple" csTypeId="urn:microsoft.com/office/officeart/2005/8/colors/accent0_3" csCatId="mainScheme" phldr="1"/>
      <dgm:spPr/>
      <dgm:t>
        <a:bodyPr/>
        <a:lstStyle/>
        <a:p>
          <a:endParaRPr lang="en-US"/>
        </a:p>
      </dgm:t>
    </dgm:pt>
    <dgm:pt modelId="{7B1F166D-AB14-4F85-9ABD-1F17FEA343BC}">
      <dgm:prSet phldrT="[Text]" phldr="0"/>
      <dgm:spPr/>
      <dgm:t>
        <a:bodyPr/>
        <a:lstStyle/>
        <a:p>
          <a:r>
            <a:rPr lang="en-US" dirty="0"/>
            <a:t>Identify hazards</a:t>
          </a:r>
        </a:p>
      </dgm:t>
    </dgm:pt>
    <dgm:pt modelId="{339ECAF3-0BF6-4D7C-9BA6-C1467DBF33CE}" type="parTrans" cxnId="{E1D5B26D-236A-43FE-AF30-E08259E93406}">
      <dgm:prSet/>
      <dgm:spPr/>
      <dgm:t>
        <a:bodyPr/>
        <a:lstStyle/>
        <a:p>
          <a:endParaRPr lang="en-US"/>
        </a:p>
      </dgm:t>
    </dgm:pt>
    <dgm:pt modelId="{653A2F9D-96AB-4E58-8877-5452792B30C9}" type="sibTrans" cxnId="{E1D5B26D-236A-43FE-AF30-E08259E93406}">
      <dgm:prSet/>
      <dgm:spPr/>
      <dgm:t>
        <a:bodyPr/>
        <a:lstStyle/>
        <a:p>
          <a:endParaRPr lang="en-US"/>
        </a:p>
      </dgm:t>
    </dgm:pt>
    <dgm:pt modelId="{009DD52A-3F56-40CC-A946-CB47C03A01E8}">
      <dgm:prSet phldrT="[Text]" phldr="0"/>
      <dgm:spPr/>
      <dgm:t>
        <a:bodyPr/>
        <a:lstStyle/>
        <a:p>
          <a:r>
            <a:rPr lang="en-US" dirty="0"/>
            <a:t>Assess hazards</a:t>
          </a:r>
        </a:p>
      </dgm:t>
    </dgm:pt>
    <dgm:pt modelId="{E04F75DA-9D3A-40BF-92D2-0E78331EEB11}" type="parTrans" cxnId="{4FAEE3B3-7551-47C6-A151-2E092E2E5403}">
      <dgm:prSet/>
      <dgm:spPr/>
      <dgm:t>
        <a:bodyPr/>
        <a:lstStyle/>
        <a:p>
          <a:endParaRPr lang="en-US"/>
        </a:p>
      </dgm:t>
    </dgm:pt>
    <dgm:pt modelId="{55EB5B15-F137-4008-A252-91A4EE4A8571}" type="sibTrans" cxnId="{4FAEE3B3-7551-47C6-A151-2E092E2E5403}">
      <dgm:prSet/>
      <dgm:spPr/>
      <dgm:t>
        <a:bodyPr/>
        <a:lstStyle/>
        <a:p>
          <a:endParaRPr lang="en-US"/>
        </a:p>
      </dgm:t>
    </dgm:pt>
    <dgm:pt modelId="{27099C13-63BC-49C9-B072-E000130A9ACA}">
      <dgm:prSet phldrT="[Text]" phldr="0"/>
      <dgm:spPr/>
      <dgm:t>
        <a:bodyPr/>
        <a:lstStyle/>
        <a:p>
          <a:r>
            <a:rPr lang="en-US" dirty="0"/>
            <a:t>Develop controls</a:t>
          </a:r>
        </a:p>
      </dgm:t>
    </dgm:pt>
    <dgm:pt modelId="{9B6D6102-581F-4583-8F34-A62A2D7AD6F1}" type="parTrans" cxnId="{56C8FCD6-E222-4003-A5BB-3A1BE2570CD6}">
      <dgm:prSet/>
      <dgm:spPr/>
      <dgm:t>
        <a:bodyPr/>
        <a:lstStyle/>
        <a:p>
          <a:endParaRPr lang="en-US"/>
        </a:p>
      </dgm:t>
    </dgm:pt>
    <dgm:pt modelId="{1F7154BD-5393-4686-AE05-F15CF69E81CE}" type="sibTrans" cxnId="{56C8FCD6-E222-4003-A5BB-3A1BE2570CD6}">
      <dgm:prSet/>
      <dgm:spPr/>
      <dgm:t>
        <a:bodyPr/>
        <a:lstStyle/>
        <a:p>
          <a:endParaRPr lang="en-US"/>
        </a:p>
      </dgm:t>
    </dgm:pt>
    <dgm:pt modelId="{1923D95D-5F12-460D-A33C-81C352624FCA}">
      <dgm:prSet phldrT="[Text]" phldr="0"/>
      <dgm:spPr/>
      <dgm:t>
        <a:bodyPr/>
        <a:lstStyle/>
        <a:p>
          <a:r>
            <a:rPr lang="en-US" dirty="0"/>
            <a:t>Implement controls</a:t>
          </a:r>
        </a:p>
      </dgm:t>
    </dgm:pt>
    <dgm:pt modelId="{80A1D22B-49B0-46AF-B1E5-9CDE3AE410A4}" type="parTrans" cxnId="{29F3E73D-1739-4E71-AF15-D709427104BB}">
      <dgm:prSet/>
      <dgm:spPr/>
      <dgm:t>
        <a:bodyPr/>
        <a:lstStyle/>
        <a:p>
          <a:endParaRPr lang="en-US"/>
        </a:p>
      </dgm:t>
    </dgm:pt>
    <dgm:pt modelId="{AAF65178-53A3-433E-A10C-64A12B7B65B6}" type="sibTrans" cxnId="{29F3E73D-1739-4E71-AF15-D709427104BB}">
      <dgm:prSet/>
      <dgm:spPr/>
      <dgm:t>
        <a:bodyPr/>
        <a:lstStyle/>
        <a:p>
          <a:endParaRPr lang="en-US"/>
        </a:p>
      </dgm:t>
    </dgm:pt>
    <dgm:pt modelId="{F67A0F5E-75EC-497C-BD90-D7953D195294}">
      <dgm:prSet phldrT="[Text]" phldr="0"/>
      <dgm:spPr/>
      <dgm:t>
        <a:bodyPr/>
        <a:lstStyle/>
        <a:p>
          <a:r>
            <a:rPr lang="en-US" dirty="0"/>
            <a:t>Supervise and Evaluate</a:t>
          </a:r>
        </a:p>
      </dgm:t>
    </dgm:pt>
    <dgm:pt modelId="{60780FC7-C993-4EFF-9970-1B54DCB4BC24}" type="parTrans" cxnId="{553F1B8C-0208-42DD-ABEA-B140A437009C}">
      <dgm:prSet/>
      <dgm:spPr/>
      <dgm:t>
        <a:bodyPr/>
        <a:lstStyle/>
        <a:p>
          <a:endParaRPr lang="en-US"/>
        </a:p>
      </dgm:t>
    </dgm:pt>
    <dgm:pt modelId="{FA1E5B4F-F2EF-468F-A5DF-29750242F75C}" type="sibTrans" cxnId="{553F1B8C-0208-42DD-ABEA-B140A437009C}">
      <dgm:prSet/>
      <dgm:spPr/>
      <dgm:t>
        <a:bodyPr/>
        <a:lstStyle/>
        <a:p>
          <a:endParaRPr lang="en-US"/>
        </a:p>
      </dgm:t>
    </dgm:pt>
    <dgm:pt modelId="{F50FD0DA-9A05-456C-80AD-0C069CAF0F36}" type="pres">
      <dgm:prSet presAssocID="{6A89CA46-B22B-499E-B438-F55B2972E617}" presName="cycle" presStyleCnt="0">
        <dgm:presLayoutVars>
          <dgm:dir/>
          <dgm:resizeHandles val="exact"/>
        </dgm:presLayoutVars>
      </dgm:prSet>
      <dgm:spPr/>
    </dgm:pt>
    <dgm:pt modelId="{2E0B0250-828A-4CAE-A319-21B1EFF09A69}" type="pres">
      <dgm:prSet presAssocID="{7B1F166D-AB14-4F85-9ABD-1F17FEA343BC}" presName="dummy" presStyleCnt="0"/>
      <dgm:spPr/>
    </dgm:pt>
    <dgm:pt modelId="{EC5013FE-12AE-451F-8B4A-0243EFAED0CA}" type="pres">
      <dgm:prSet presAssocID="{7B1F166D-AB14-4F85-9ABD-1F17FEA343BC}" presName="node" presStyleLbl="revTx" presStyleIdx="0" presStyleCnt="5">
        <dgm:presLayoutVars>
          <dgm:bulletEnabled val="1"/>
        </dgm:presLayoutVars>
      </dgm:prSet>
      <dgm:spPr/>
    </dgm:pt>
    <dgm:pt modelId="{DC4F2B4B-D48C-4CA3-8ED3-68B72C069847}" type="pres">
      <dgm:prSet presAssocID="{653A2F9D-96AB-4E58-8877-5452792B30C9}" presName="sibTrans" presStyleLbl="node1" presStyleIdx="0" presStyleCnt="5"/>
      <dgm:spPr/>
    </dgm:pt>
    <dgm:pt modelId="{32F62FED-0E50-4397-89B3-250872F42919}" type="pres">
      <dgm:prSet presAssocID="{009DD52A-3F56-40CC-A946-CB47C03A01E8}" presName="dummy" presStyleCnt="0"/>
      <dgm:spPr/>
    </dgm:pt>
    <dgm:pt modelId="{34A7F0C5-07B0-4598-BE56-A10E13FDB297}" type="pres">
      <dgm:prSet presAssocID="{009DD52A-3F56-40CC-A946-CB47C03A01E8}" presName="node" presStyleLbl="revTx" presStyleIdx="1" presStyleCnt="5">
        <dgm:presLayoutVars>
          <dgm:bulletEnabled val="1"/>
        </dgm:presLayoutVars>
      </dgm:prSet>
      <dgm:spPr/>
    </dgm:pt>
    <dgm:pt modelId="{87838403-4665-42E3-AE7E-09CD191386A6}" type="pres">
      <dgm:prSet presAssocID="{55EB5B15-F137-4008-A252-91A4EE4A8571}" presName="sibTrans" presStyleLbl="node1" presStyleIdx="1" presStyleCnt="5"/>
      <dgm:spPr/>
    </dgm:pt>
    <dgm:pt modelId="{1B355CA2-DD41-4852-A558-471A2F3BD325}" type="pres">
      <dgm:prSet presAssocID="{27099C13-63BC-49C9-B072-E000130A9ACA}" presName="dummy" presStyleCnt="0"/>
      <dgm:spPr/>
    </dgm:pt>
    <dgm:pt modelId="{0748E5A3-D00A-4F58-B8B5-69C8B2983154}" type="pres">
      <dgm:prSet presAssocID="{27099C13-63BC-49C9-B072-E000130A9ACA}" presName="node" presStyleLbl="revTx" presStyleIdx="2" presStyleCnt="5">
        <dgm:presLayoutVars>
          <dgm:bulletEnabled val="1"/>
        </dgm:presLayoutVars>
      </dgm:prSet>
      <dgm:spPr/>
    </dgm:pt>
    <dgm:pt modelId="{D1E7B3D1-849C-4EC1-9AD0-B99143831B47}" type="pres">
      <dgm:prSet presAssocID="{1F7154BD-5393-4686-AE05-F15CF69E81CE}" presName="sibTrans" presStyleLbl="node1" presStyleIdx="2" presStyleCnt="5"/>
      <dgm:spPr/>
    </dgm:pt>
    <dgm:pt modelId="{8AE2F648-9E73-4CBD-8914-BF380DA3AA4D}" type="pres">
      <dgm:prSet presAssocID="{1923D95D-5F12-460D-A33C-81C352624FCA}" presName="dummy" presStyleCnt="0"/>
      <dgm:spPr/>
    </dgm:pt>
    <dgm:pt modelId="{81E2C496-1FC6-4947-B849-7E9D51BB23D2}" type="pres">
      <dgm:prSet presAssocID="{1923D95D-5F12-460D-A33C-81C352624FCA}" presName="node" presStyleLbl="revTx" presStyleIdx="3" presStyleCnt="5">
        <dgm:presLayoutVars>
          <dgm:bulletEnabled val="1"/>
        </dgm:presLayoutVars>
      </dgm:prSet>
      <dgm:spPr/>
    </dgm:pt>
    <dgm:pt modelId="{F592F9DA-3A0D-4FB2-AEB8-ADAF3EE92F0A}" type="pres">
      <dgm:prSet presAssocID="{AAF65178-53A3-433E-A10C-64A12B7B65B6}" presName="sibTrans" presStyleLbl="node1" presStyleIdx="3" presStyleCnt="5"/>
      <dgm:spPr/>
    </dgm:pt>
    <dgm:pt modelId="{2726530C-5637-4D22-A28E-5997ABC864A0}" type="pres">
      <dgm:prSet presAssocID="{F67A0F5E-75EC-497C-BD90-D7953D195294}" presName="dummy" presStyleCnt="0"/>
      <dgm:spPr/>
    </dgm:pt>
    <dgm:pt modelId="{B46BD9C8-51AC-4AC5-9D72-604A19B0D5C8}" type="pres">
      <dgm:prSet presAssocID="{F67A0F5E-75EC-497C-BD90-D7953D195294}" presName="node" presStyleLbl="revTx" presStyleIdx="4" presStyleCnt="5">
        <dgm:presLayoutVars>
          <dgm:bulletEnabled val="1"/>
        </dgm:presLayoutVars>
      </dgm:prSet>
      <dgm:spPr/>
    </dgm:pt>
    <dgm:pt modelId="{2F58FB24-E423-41B1-A7BB-E82141B247F8}" type="pres">
      <dgm:prSet presAssocID="{FA1E5B4F-F2EF-468F-A5DF-29750242F75C}" presName="sibTrans" presStyleLbl="node1" presStyleIdx="4" presStyleCnt="5"/>
      <dgm:spPr/>
    </dgm:pt>
  </dgm:ptLst>
  <dgm:cxnLst>
    <dgm:cxn modelId="{388F2102-10DF-4154-9AA5-C5D11BDC4AAD}" type="presOf" srcId="{1F7154BD-5393-4686-AE05-F15CF69E81CE}" destId="{D1E7B3D1-849C-4EC1-9AD0-B99143831B47}" srcOrd="0" destOrd="0" presId="urn:microsoft.com/office/officeart/2005/8/layout/cycle1"/>
    <dgm:cxn modelId="{B5339A0B-C3C0-4367-9E79-084A5B2B19D5}" type="presOf" srcId="{27099C13-63BC-49C9-B072-E000130A9ACA}" destId="{0748E5A3-D00A-4F58-B8B5-69C8B2983154}" srcOrd="0" destOrd="0" presId="urn:microsoft.com/office/officeart/2005/8/layout/cycle1"/>
    <dgm:cxn modelId="{1B47D130-B345-471F-B7CD-45408DDA81BD}" type="presOf" srcId="{7B1F166D-AB14-4F85-9ABD-1F17FEA343BC}" destId="{EC5013FE-12AE-451F-8B4A-0243EFAED0CA}" srcOrd="0" destOrd="0" presId="urn:microsoft.com/office/officeart/2005/8/layout/cycle1"/>
    <dgm:cxn modelId="{29F3E73D-1739-4E71-AF15-D709427104BB}" srcId="{6A89CA46-B22B-499E-B438-F55B2972E617}" destId="{1923D95D-5F12-460D-A33C-81C352624FCA}" srcOrd="3" destOrd="0" parTransId="{80A1D22B-49B0-46AF-B1E5-9CDE3AE410A4}" sibTransId="{AAF65178-53A3-433E-A10C-64A12B7B65B6}"/>
    <dgm:cxn modelId="{8E372747-DFA2-4A22-932B-3C3D146A98EA}" type="presOf" srcId="{FA1E5B4F-F2EF-468F-A5DF-29750242F75C}" destId="{2F58FB24-E423-41B1-A7BB-E82141B247F8}" srcOrd="0" destOrd="0" presId="urn:microsoft.com/office/officeart/2005/8/layout/cycle1"/>
    <dgm:cxn modelId="{A0F0E04C-D371-44A2-8201-12F947968038}" type="presOf" srcId="{009DD52A-3F56-40CC-A946-CB47C03A01E8}" destId="{34A7F0C5-07B0-4598-BE56-A10E13FDB297}" srcOrd="0" destOrd="0" presId="urn:microsoft.com/office/officeart/2005/8/layout/cycle1"/>
    <dgm:cxn modelId="{E1D5B26D-236A-43FE-AF30-E08259E93406}" srcId="{6A89CA46-B22B-499E-B438-F55B2972E617}" destId="{7B1F166D-AB14-4F85-9ABD-1F17FEA343BC}" srcOrd="0" destOrd="0" parTransId="{339ECAF3-0BF6-4D7C-9BA6-C1467DBF33CE}" sibTransId="{653A2F9D-96AB-4E58-8877-5452792B30C9}"/>
    <dgm:cxn modelId="{553F1B8C-0208-42DD-ABEA-B140A437009C}" srcId="{6A89CA46-B22B-499E-B438-F55B2972E617}" destId="{F67A0F5E-75EC-497C-BD90-D7953D195294}" srcOrd="4" destOrd="0" parTransId="{60780FC7-C993-4EFF-9970-1B54DCB4BC24}" sibTransId="{FA1E5B4F-F2EF-468F-A5DF-29750242F75C}"/>
    <dgm:cxn modelId="{4FAEE3B3-7551-47C6-A151-2E092E2E5403}" srcId="{6A89CA46-B22B-499E-B438-F55B2972E617}" destId="{009DD52A-3F56-40CC-A946-CB47C03A01E8}" srcOrd="1" destOrd="0" parTransId="{E04F75DA-9D3A-40BF-92D2-0E78331EEB11}" sibTransId="{55EB5B15-F137-4008-A252-91A4EE4A8571}"/>
    <dgm:cxn modelId="{89CB89BE-8629-4E54-B51B-5B2FC8EF6C3D}" type="presOf" srcId="{6A89CA46-B22B-499E-B438-F55B2972E617}" destId="{F50FD0DA-9A05-456C-80AD-0C069CAF0F36}" srcOrd="0" destOrd="0" presId="urn:microsoft.com/office/officeart/2005/8/layout/cycle1"/>
    <dgm:cxn modelId="{86897CBF-5092-4D24-960C-BE7EC55524AA}" type="presOf" srcId="{55EB5B15-F137-4008-A252-91A4EE4A8571}" destId="{87838403-4665-42E3-AE7E-09CD191386A6}" srcOrd="0" destOrd="0" presId="urn:microsoft.com/office/officeart/2005/8/layout/cycle1"/>
    <dgm:cxn modelId="{DF9F3AC8-A42C-44C1-A14A-30717A8FAE78}" type="presOf" srcId="{F67A0F5E-75EC-497C-BD90-D7953D195294}" destId="{B46BD9C8-51AC-4AC5-9D72-604A19B0D5C8}" srcOrd="0" destOrd="0" presId="urn:microsoft.com/office/officeart/2005/8/layout/cycle1"/>
    <dgm:cxn modelId="{56C8FCD6-E222-4003-A5BB-3A1BE2570CD6}" srcId="{6A89CA46-B22B-499E-B438-F55B2972E617}" destId="{27099C13-63BC-49C9-B072-E000130A9ACA}" srcOrd="2" destOrd="0" parTransId="{9B6D6102-581F-4583-8F34-A62A2D7AD6F1}" sibTransId="{1F7154BD-5393-4686-AE05-F15CF69E81CE}"/>
    <dgm:cxn modelId="{037417E5-582D-46E6-97F4-6C7F657733F4}" type="presOf" srcId="{AAF65178-53A3-433E-A10C-64A12B7B65B6}" destId="{F592F9DA-3A0D-4FB2-AEB8-ADAF3EE92F0A}" srcOrd="0" destOrd="0" presId="urn:microsoft.com/office/officeart/2005/8/layout/cycle1"/>
    <dgm:cxn modelId="{B6564AEA-5950-4418-9FEA-DED14A089487}" type="presOf" srcId="{1923D95D-5F12-460D-A33C-81C352624FCA}" destId="{81E2C496-1FC6-4947-B849-7E9D51BB23D2}" srcOrd="0" destOrd="0" presId="urn:microsoft.com/office/officeart/2005/8/layout/cycle1"/>
    <dgm:cxn modelId="{0E010DFF-8E5E-44E9-9E42-1D25B3359D76}" type="presOf" srcId="{653A2F9D-96AB-4E58-8877-5452792B30C9}" destId="{DC4F2B4B-D48C-4CA3-8ED3-68B72C069847}" srcOrd="0" destOrd="0" presId="urn:microsoft.com/office/officeart/2005/8/layout/cycle1"/>
    <dgm:cxn modelId="{F712B8B4-6DA6-4E67-9E61-EC64603BA7ED}" type="presParOf" srcId="{F50FD0DA-9A05-456C-80AD-0C069CAF0F36}" destId="{2E0B0250-828A-4CAE-A319-21B1EFF09A69}" srcOrd="0" destOrd="0" presId="urn:microsoft.com/office/officeart/2005/8/layout/cycle1"/>
    <dgm:cxn modelId="{DF2454D7-338D-4EDE-9454-C78A45845641}" type="presParOf" srcId="{F50FD0DA-9A05-456C-80AD-0C069CAF0F36}" destId="{EC5013FE-12AE-451F-8B4A-0243EFAED0CA}" srcOrd="1" destOrd="0" presId="urn:microsoft.com/office/officeart/2005/8/layout/cycle1"/>
    <dgm:cxn modelId="{4BA82EA5-306B-418C-B204-203D40FBEB5F}" type="presParOf" srcId="{F50FD0DA-9A05-456C-80AD-0C069CAF0F36}" destId="{DC4F2B4B-D48C-4CA3-8ED3-68B72C069847}" srcOrd="2" destOrd="0" presId="urn:microsoft.com/office/officeart/2005/8/layout/cycle1"/>
    <dgm:cxn modelId="{200C62AB-7148-43CA-9652-1B951161036E}" type="presParOf" srcId="{F50FD0DA-9A05-456C-80AD-0C069CAF0F36}" destId="{32F62FED-0E50-4397-89B3-250872F42919}" srcOrd="3" destOrd="0" presId="urn:microsoft.com/office/officeart/2005/8/layout/cycle1"/>
    <dgm:cxn modelId="{68B567DC-A91C-4B31-BF1E-446F5D517D78}" type="presParOf" srcId="{F50FD0DA-9A05-456C-80AD-0C069CAF0F36}" destId="{34A7F0C5-07B0-4598-BE56-A10E13FDB297}" srcOrd="4" destOrd="0" presId="urn:microsoft.com/office/officeart/2005/8/layout/cycle1"/>
    <dgm:cxn modelId="{2C162CDA-8C85-4673-BB5B-5A2D6876D9D2}" type="presParOf" srcId="{F50FD0DA-9A05-456C-80AD-0C069CAF0F36}" destId="{87838403-4665-42E3-AE7E-09CD191386A6}" srcOrd="5" destOrd="0" presId="urn:microsoft.com/office/officeart/2005/8/layout/cycle1"/>
    <dgm:cxn modelId="{A03A7C73-AAF0-48EE-9AFC-50974C70C1DA}" type="presParOf" srcId="{F50FD0DA-9A05-456C-80AD-0C069CAF0F36}" destId="{1B355CA2-DD41-4852-A558-471A2F3BD325}" srcOrd="6" destOrd="0" presId="urn:microsoft.com/office/officeart/2005/8/layout/cycle1"/>
    <dgm:cxn modelId="{DFA88C13-545F-41E5-9C94-B1AD41E5BCFC}" type="presParOf" srcId="{F50FD0DA-9A05-456C-80AD-0C069CAF0F36}" destId="{0748E5A3-D00A-4F58-B8B5-69C8B2983154}" srcOrd="7" destOrd="0" presId="urn:microsoft.com/office/officeart/2005/8/layout/cycle1"/>
    <dgm:cxn modelId="{7F3F4CFC-47CE-4872-BFE5-F92373874459}" type="presParOf" srcId="{F50FD0DA-9A05-456C-80AD-0C069CAF0F36}" destId="{D1E7B3D1-849C-4EC1-9AD0-B99143831B47}" srcOrd="8" destOrd="0" presId="urn:microsoft.com/office/officeart/2005/8/layout/cycle1"/>
    <dgm:cxn modelId="{F1DE63D9-B474-4457-8660-D8881584B5DD}" type="presParOf" srcId="{F50FD0DA-9A05-456C-80AD-0C069CAF0F36}" destId="{8AE2F648-9E73-4CBD-8914-BF380DA3AA4D}" srcOrd="9" destOrd="0" presId="urn:microsoft.com/office/officeart/2005/8/layout/cycle1"/>
    <dgm:cxn modelId="{8DC43528-69B6-428A-8467-8FFF6C10AEC3}" type="presParOf" srcId="{F50FD0DA-9A05-456C-80AD-0C069CAF0F36}" destId="{81E2C496-1FC6-4947-B849-7E9D51BB23D2}" srcOrd="10" destOrd="0" presId="urn:microsoft.com/office/officeart/2005/8/layout/cycle1"/>
    <dgm:cxn modelId="{0B52DC3B-E20B-4502-AA53-9656A3171640}" type="presParOf" srcId="{F50FD0DA-9A05-456C-80AD-0C069CAF0F36}" destId="{F592F9DA-3A0D-4FB2-AEB8-ADAF3EE92F0A}" srcOrd="11" destOrd="0" presId="urn:microsoft.com/office/officeart/2005/8/layout/cycle1"/>
    <dgm:cxn modelId="{6028A724-7694-4DB6-A4C0-EA1AF0F6B418}" type="presParOf" srcId="{F50FD0DA-9A05-456C-80AD-0C069CAF0F36}" destId="{2726530C-5637-4D22-A28E-5997ABC864A0}" srcOrd="12" destOrd="0" presId="urn:microsoft.com/office/officeart/2005/8/layout/cycle1"/>
    <dgm:cxn modelId="{5F59D471-A8D7-4C0C-BA65-29A1A8F7F025}" type="presParOf" srcId="{F50FD0DA-9A05-456C-80AD-0C069CAF0F36}" destId="{B46BD9C8-51AC-4AC5-9D72-604A19B0D5C8}" srcOrd="13" destOrd="0" presId="urn:microsoft.com/office/officeart/2005/8/layout/cycle1"/>
    <dgm:cxn modelId="{27598FDB-F3B8-4D42-99DD-DD065DEED71B}" type="presParOf" srcId="{F50FD0DA-9A05-456C-80AD-0C069CAF0F36}" destId="{2F58FB24-E423-41B1-A7BB-E82141B247F8}" srcOrd="14"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7E8CC00-3A77-4C1F-BF7C-F16FCFFF243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D1C3D20-C2D7-4133-8E57-EA6DA0718E0B}">
      <dgm:prSet/>
      <dgm:spPr/>
      <dgm:t>
        <a:bodyPr/>
        <a:lstStyle/>
        <a:p>
          <a:r>
            <a:rPr lang="en-US"/>
            <a:t>PACE is the joint communications construct (Primary · Alternate · Contingency · Emergency) </a:t>
          </a:r>
        </a:p>
      </dgm:t>
    </dgm:pt>
    <dgm:pt modelId="{667BE504-37B5-4AE6-AD24-C4BAF80F6ECC}" type="parTrans" cxnId="{528E561B-EF0E-4D51-B4C8-C9B8B56A5BD5}">
      <dgm:prSet/>
      <dgm:spPr/>
      <dgm:t>
        <a:bodyPr/>
        <a:lstStyle/>
        <a:p>
          <a:endParaRPr lang="en-US"/>
        </a:p>
      </dgm:t>
    </dgm:pt>
    <dgm:pt modelId="{ED977826-B08B-44D8-9932-69BB0469A332}" type="sibTrans" cxnId="{528E561B-EF0E-4D51-B4C8-C9B8B56A5BD5}">
      <dgm:prSet/>
      <dgm:spPr/>
      <dgm:t>
        <a:bodyPr/>
        <a:lstStyle/>
        <a:p>
          <a:endParaRPr lang="en-US"/>
        </a:p>
      </dgm:t>
    </dgm:pt>
    <dgm:pt modelId="{A94B5C71-B709-4FE1-8E18-DE67EEC1A055}">
      <dgm:prSet/>
      <dgm:spPr/>
      <dgm:t>
        <a:bodyPr/>
        <a:lstStyle/>
        <a:p>
          <a:r>
            <a:rPr lang="en-US" dirty="0"/>
            <a:t>conventional–contingency–crisis tiers and onto JTS CPG tiering: acceptable · good · better · best.</a:t>
          </a:r>
        </a:p>
      </dgm:t>
    </dgm:pt>
    <dgm:pt modelId="{F792204A-E285-460E-AAD4-4720B3E9BE5D}" type="parTrans" cxnId="{5718E4A2-6325-4959-910E-EC9B1420A0D1}">
      <dgm:prSet/>
      <dgm:spPr/>
      <dgm:t>
        <a:bodyPr/>
        <a:lstStyle/>
        <a:p>
          <a:endParaRPr lang="en-US"/>
        </a:p>
      </dgm:t>
    </dgm:pt>
    <dgm:pt modelId="{4D534075-EEC2-4E18-BD42-9132A1A42021}" type="sibTrans" cxnId="{5718E4A2-6325-4959-910E-EC9B1420A0D1}">
      <dgm:prSet/>
      <dgm:spPr/>
      <dgm:t>
        <a:bodyPr/>
        <a:lstStyle/>
        <a:p>
          <a:endParaRPr lang="en-US"/>
        </a:p>
      </dgm:t>
    </dgm:pt>
    <dgm:pt modelId="{A314D895-9D86-4AF6-8BA7-4A8B364ECC54}">
      <dgm:prSet/>
      <dgm:spPr/>
      <dgm:t>
        <a:bodyPr/>
        <a:lstStyle/>
        <a:p>
          <a:r>
            <a:rPr lang="en-US"/>
            <a:t>Degradation and recovery triggers are pre-briefed and bidirectional — the decision leaves the individual at the bedside.</a:t>
          </a:r>
        </a:p>
      </dgm:t>
    </dgm:pt>
    <dgm:pt modelId="{46763C9E-7982-4E1C-8975-20514D470669}" type="parTrans" cxnId="{409B1574-04BD-4AAE-AB6B-72A3A21463CF}">
      <dgm:prSet/>
      <dgm:spPr/>
      <dgm:t>
        <a:bodyPr/>
        <a:lstStyle/>
        <a:p>
          <a:endParaRPr lang="en-US"/>
        </a:p>
      </dgm:t>
    </dgm:pt>
    <dgm:pt modelId="{7960FAFF-3DA0-468C-B614-F93520C0A608}" type="sibTrans" cxnId="{409B1574-04BD-4AAE-AB6B-72A3A21463CF}">
      <dgm:prSet/>
      <dgm:spPr/>
      <dgm:t>
        <a:bodyPr/>
        <a:lstStyle/>
        <a:p>
          <a:endParaRPr lang="en-US"/>
        </a:p>
      </dgm:t>
    </dgm:pt>
    <dgm:pt modelId="{ADC011F1-4498-4C9F-BB05-8C4352C4185B}">
      <dgm:prSet/>
      <dgm:spPr/>
      <dgm:t>
        <a:bodyPr/>
        <a:lstStyle/>
        <a:p>
          <a:r>
            <a:rPr lang="en-US"/>
            <a:t>Operational, moral, and ethical framework to minimize individual moral hazard and offer leadership </a:t>
          </a:r>
        </a:p>
      </dgm:t>
    </dgm:pt>
    <dgm:pt modelId="{B5E58396-15C7-469F-B622-CC2E70EE8E50}" type="parTrans" cxnId="{6BA572F5-EF67-46AD-9F1C-47CDA3FAC8E4}">
      <dgm:prSet/>
      <dgm:spPr/>
      <dgm:t>
        <a:bodyPr/>
        <a:lstStyle/>
        <a:p>
          <a:endParaRPr lang="en-US"/>
        </a:p>
      </dgm:t>
    </dgm:pt>
    <dgm:pt modelId="{622524FC-C4FC-4E8B-9004-3D3DCBBB9393}" type="sibTrans" cxnId="{6BA572F5-EF67-46AD-9F1C-47CDA3FAC8E4}">
      <dgm:prSet/>
      <dgm:spPr/>
      <dgm:t>
        <a:bodyPr/>
        <a:lstStyle/>
        <a:p>
          <a:endParaRPr lang="en-US"/>
        </a:p>
      </dgm:t>
    </dgm:pt>
    <dgm:pt modelId="{60A1E9A1-3C5D-4A8A-9038-13AD02BD3B2C}" type="pres">
      <dgm:prSet presAssocID="{07E8CC00-3A77-4C1F-BF7C-F16FCFFF243B}" presName="linear" presStyleCnt="0">
        <dgm:presLayoutVars>
          <dgm:animLvl val="lvl"/>
          <dgm:resizeHandles val="exact"/>
        </dgm:presLayoutVars>
      </dgm:prSet>
      <dgm:spPr/>
    </dgm:pt>
    <dgm:pt modelId="{29FB6594-6B05-418C-8398-56A36FAFABB4}" type="pres">
      <dgm:prSet presAssocID="{2D1C3D20-C2D7-4133-8E57-EA6DA0718E0B}" presName="parentText" presStyleLbl="node1" presStyleIdx="0" presStyleCnt="3">
        <dgm:presLayoutVars>
          <dgm:chMax val="0"/>
          <dgm:bulletEnabled val="1"/>
        </dgm:presLayoutVars>
      </dgm:prSet>
      <dgm:spPr/>
    </dgm:pt>
    <dgm:pt modelId="{CF6E373E-4845-4336-A02F-27E5AE09F98E}" type="pres">
      <dgm:prSet presAssocID="{2D1C3D20-C2D7-4133-8E57-EA6DA0718E0B}" presName="childText" presStyleLbl="revTx" presStyleIdx="0" presStyleCnt="1">
        <dgm:presLayoutVars>
          <dgm:bulletEnabled val="1"/>
        </dgm:presLayoutVars>
      </dgm:prSet>
      <dgm:spPr/>
    </dgm:pt>
    <dgm:pt modelId="{CACB03E3-5E87-44D5-B71A-80DC72DD546C}" type="pres">
      <dgm:prSet presAssocID="{A314D895-9D86-4AF6-8BA7-4A8B364ECC54}" presName="parentText" presStyleLbl="node1" presStyleIdx="1" presStyleCnt="3">
        <dgm:presLayoutVars>
          <dgm:chMax val="0"/>
          <dgm:bulletEnabled val="1"/>
        </dgm:presLayoutVars>
      </dgm:prSet>
      <dgm:spPr/>
    </dgm:pt>
    <dgm:pt modelId="{ADF88CEE-1E29-4EC2-B64B-4E4E9A11F8AF}" type="pres">
      <dgm:prSet presAssocID="{7960FAFF-3DA0-468C-B614-F93520C0A608}" presName="spacer" presStyleCnt="0"/>
      <dgm:spPr/>
    </dgm:pt>
    <dgm:pt modelId="{5650D20B-3F6A-4BD9-AEE2-ACA73093AABA}" type="pres">
      <dgm:prSet presAssocID="{ADC011F1-4498-4C9F-BB05-8C4352C4185B}" presName="parentText" presStyleLbl="node1" presStyleIdx="2" presStyleCnt="3">
        <dgm:presLayoutVars>
          <dgm:chMax val="0"/>
          <dgm:bulletEnabled val="1"/>
        </dgm:presLayoutVars>
      </dgm:prSet>
      <dgm:spPr/>
    </dgm:pt>
  </dgm:ptLst>
  <dgm:cxnLst>
    <dgm:cxn modelId="{528E561B-EF0E-4D51-B4C8-C9B8B56A5BD5}" srcId="{07E8CC00-3A77-4C1F-BF7C-F16FCFFF243B}" destId="{2D1C3D20-C2D7-4133-8E57-EA6DA0718E0B}" srcOrd="0" destOrd="0" parTransId="{667BE504-37B5-4AE6-AD24-C4BAF80F6ECC}" sibTransId="{ED977826-B08B-44D8-9932-69BB0469A332}"/>
    <dgm:cxn modelId="{54634868-9463-4FD6-BA61-F8F5170F5501}" type="presOf" srcId="{ADC011F1-4498-4C9F-BB05-8C4352C4185B}" destId="{5650D20B-3F6A-4BD9-AEE2-ACA73093AABA}" srcOrd="0" destOrd="0" presId="urn:microsoft.com/office/officeart/2005/8/layout/vList2"/>
    <dgm:cxn modelId="{94368C6A-BA98-4F99-B70C-FD9ABACD9CE8}" type="presOf" srcId="{A314D895-9D86-4AF6-8BA7-4A8B364ECC54}" destId="{CACB03E3-5E87-44D5-B71A-80DC72DD546C}" srcOrd="0" destOrd="0" presId="urn:microsoft.com/office/officeart/2005/8/layout/vList2"/>
    <dgm:cxn modelId="{409B1574-04BD-4AAE-AB6B-72A3A21463CF}" srcId="{07E8CC00-3A77-4C1F-BF7C-F16FCFFF243B}" destId="{A314D895-9D86-4AF6-8BA7-4A8B364ECC54}" srcOrd="1" destOrd="0" parTransId="{46763C9E-7982-4E1C-8975-20514D470669}" sibTransId="{7960FAFF-3DA0-468C-B614-F93520C0A608}"/>
    <dgm:cxn modelId="{BEE59082-78B9-4099-8266-D50A98AFAC9F}" type="presOf" srcId="{2D1C3D20-C2D7-4133-8E57-EA6DA0718E0B}" destId="{29FB6594-6B05-418C-8398-56A36FAFABB4}" srcOrd="0" destOrd="0" presId="urn:microsoft.com/office/officeart/2005/8/layout/vList2"/>
    <dgm:cxn modelId="{5718E4A2-6325-4959-910E-EC9B1420A0D1}" srcId="{2D1C3D20-C2D7-4133-8E57-EA6DA0718E0B}" destId="{A94B5C71-B709-4FE1-8E18-DE67EEC1A055}" srcOrd="0" destOrd="0" parTransId="{F792204A-E285-460E-AAD4-4720B3E9BE5D}" sibTransId="{4D534075-EEC2-4E18-BD42-9132A1A42021}"/>
    <dgm:cxn modelId="{8B84BDC4-E681-41C8-8EB8-3C675386D43A}" type="presOf" srcId="{A94B5C71-B709-4FE1-8E18-DE67EEC1A055}" destId="{CF6E373E-4845-4336-A02F-27E5AE09F98E}" srcOrd="0" destOrd="0" presId="urn:microsoft.com/office/officeart/2005/8/layout/vList2"/>
    <dgm:cxn modelId="{746288E5-0440-42D4-9D89-68B4C7942D21}" type="presOf" srcId="{07E8CC00-3A77-4C1F-BF7C-F16FCFFF243B}" destId="{60A1E9A1-3C5D-4A8A-9038-13AD02BD3B2C}" srcOrd="0" destOrd="0" presId="urn:microsoft.com/office/officeart/2005/8/layout/vList2"/>
    <dgm:cxn modelId="{6BA572F5-EF67-46AD-9F1C-47CDA3FAC8E4}" srcId="{07E8CC00-3A77-4C1F-BF7C-F16FCFFF243B}" destId="{ADC011F1-4498-4C9F-BB05-8C4352C4185B}" srcOrd="2" destOrd="0" parTransId="{B5E58396-15C7-469F-B622-CC2E70EE8E50}" sibTransId="{622524FC-C4FC-4E8B-9004-3D3DCBBB9393}"/>
    <dgm:cxn modelId="{38BE8144-08B3-4BEA-A105-543C57B76428}" type="presParOf" srcId="{60A1E9A1-3C5D-4A8A-9038-13AD02BD3B2C}" destId="{29FB6594-6B05-418C-8398-56A36FAFABB4}" srcOrd="0" destOrd="0" presId="urn:microsoft.com/office/officeart/2005/8/layout/vList2"/>
    <dgm:cxn modelId="{80E241A5-B3C7-41CB-8E12-92CC44EDA019}" type="presParOf" srcId="{60A1E9A1-3C5D-4A8A-9038-13AD02BD3B2C}" destId="{CF6E373E-4845-4336-A02F-27E5AE09F98E}" srcOrd="1" destOrd="0" presId="urn:microsoft.com/office/officeart/2005/8/layout/vList2"/>
    <dgm:cxn modelId="{61890CAC-80A5-49DA-B363-EB4EB79C1FF8}" type="presParOf" srcId="{60A1E9A1-3C5D-4A8A-9038-13AD02BD3B2C}" destId="{CACB03E3-5E87-44D5-B71A-80DC72DD546C}" srcOrd="2" destOrd="0" presId="urn:microsoft.com/office/officeart/2005/8/layout/vList2"/>
    <dgm:cxn modelId="{F220DFC9-EC5B-48BA-8E72-2726E352990E}" type="presParOf" srcId="{60A1E9A1-3C5D-4A8A-9038-13AD02BD3B2C}" destId="{ADF88CEE-1E29-4EC2-B64B-4E4E9A11F8AF}" srcOrd="3" destOrd="0" presId="urn:microsoft.com/office/officeart/2005/8/layout/vList2"/>
    <dgm:cxn modelId="{230AB0DB-03F8-41C4-8799-292F50EEFFD6}" type="presParOf" srcId="{60A1E9A1-3C5D-4A8A-9038-13AD02BD3B2C}" destId="{5650D20B-3F6A-4BD9-AEE2-ACA73093AABA}"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2D72E57-D45D-4B54-B8B4-408B7D5C9F0D}" type="doc">
      <dgm:prSet loTypeId="urn:microsoft.com/office/officeart/2005/8/layout/vList2" loCatId="list" qsTypeId="urn:microsoft.com/office/officeart/2005/8/quickstyle/simple1" qsCatId="simple" csTypeId="urn:microsoft.com/office/officeart/2005/8/colors/accent0_3" csCatId="mainScheme"/>
      <dgm:spPr/>
      <dgm:t>
        <a:bodyPr/>
        <a:lstStyle/>
        <a:p>
          <a:endParaRPr lang="en-US"/>
        </a:p>
      </dgm:t>
    </dgm:pt>
    <dgm:pt modelId="{A5ADE075-9A32-457F-A688-B69321689B7B}">
      <dgm:prSet/>
      <dgm:spPr/>
      <dgm:t>
        <a:bodyPr/>
        <a:lstStyle/>
        <a:p>
          <a:r>
            <a:rPr lang="en-US"/>
            <a:t>CSC as told through the tourniquet</a:t>
          </a:r>
        </a:p>
      </dgm:t>
    </dgm:pt>
    <dgm:pt modelId="{8F5FA43E-ED96-41A0-8980-8322B3723CBA}" type="parTrans" cxnId="{FBE52764-9136-497B-927F-E80E55843EFC}">
      <dgm:prSet/>
      <dgm:spPr/>
      <dgm:t>
        <a:bodyPr/>
        <a:lstStyle/>
        <a:p>
          <a:endParaRPr lang="en-US"/>
        </a:p>
      </dgm:t>
    </dgm:pt>
    <dgm:pt modelId="{D4849235-3911-4CA4-A3B1-D1B6B86E29D5}" type="sibTrans" cxnId="{FBE52764-9136-497B-927F-E80E55843EFC}">
      <dgm:prSet/>
      <dgm:spPr/>
      <dgm:t>
        <a:bodyPr/>
        <a:lstStyle/>
        <a:p>
          <a:endParaRPr lang="en-US"/>
        </a:p>
      </dgm:t>
    </dgm:pt>
    <dgm:pt modelId="{D013B53C-8EF6-4782-9B2F-B0A322BF180B}">
      <dgm:prSet/>
      <dgm:spPr/>
      <dgm:t>
        <a:bodyPr/>
        <a:lstStyle/>
        <a:p>
          <a:r>
            <a:rPr lang="en-US"/>
            <a:t>Golden hour </a:t>
          </a:r>
          <a:r>
            <a:rPr lang="en-US">
              <a:sym typeface="Wingdings" panose="05000000000000000000" pitchFamily="2" charset="2"/>
            </a:rPr>
            <a:t></a:t>
          </a:r>
          <a:r>
            <a:rPr lang="en-US"/>
            <a:t> Golden day</a:t>
          </a:r>
        </a:p>
      </dgm:t>
    </dgm:pt>
    <dgm:pt modelId="{0EEDF8F5-8DD2-4732-BC4D-AEFD216FEEBB}" type="parTrans" cxnId="{D1B9A410-6DB3-4D17-8EF6-E0FF2B8388A6}">
      <dgm:prSet/>
      <dgm:spPr/>
      <dgm:t>
        <a:bodyPr/>
        <a:lstStyle/>
        <a:p>
          <a:endParaRPr lang="en-US"/>
        </a:p>
      </dgm:t>
    </dgm:pt>
    <dgm:pt modelId="{9B86959B-9F38-482C-AB4D-6CE4EFBDEF2B}" type="sibTrans" cxnId="{D1B9A410-6DB3-4D17-8EF6-E0FF2B8388A6}">
      <dgm:prSet/>
      <dgm:spPr/>
      <dgm:t>
        <a:bodyPr/>
        <a:lstStyle/>
        <a:p>
          <a:endParaRPr lang="en-US"/>
        </a:p>
      </dgm:t>
    </dgm:pt>
    <dgm:pt modelId="{18D92A37-E590-4848-96DF-8D23E63CDCB7}">
      <dgm:prSet/>
      <dgm:spPr/>
      <dgm:t>
        <a:bodyPr/>
        <a:lstStyle/>
        <a:p>
          <a:r>
            <a:rPr lang="en-US"/>
            <a:t>Airway is not a part of early assessments in some units</a:t>
          </a:r>
        </a:p>
      </dgm:t>
    </dgm:pt>
    <dgm:pt modelId="{FDCB39DA-3F97-43E5-BC40-A36B56DA8DD7}" type="parTrans" cxnId="{4E8F4C6A-C56B-484C-8987-674AC2AE9CCA}">
      <dgm:prSet/>
      <dgm:spPr/>
      <dgm:t>
        <a:bodyPr/>
        <a:lstStyle/>
        <a:p>
          <a:endParaRPr lang="en-US"/>
        </a:p>
      </dgm:t>
    </dgm:pt>
    <dgm:pt modelId="{BAF5B71E-A9E1-40BB-94E3-96E720E87709}" type="sibTrans" cxnId="{4E8F4C6A-C56B-484C-8987-674AC2AE9CCA}">
      <dgm:prSet/>
      <dgm:spPr/>
      <dgm:t>
        <a:bodyPr/>
        <a:lstStyle/>
        <a:p>
          <a:endParaRPr lang="en-US"/>
        </a:p>
      </dgm:t>
    </dgm:pt>
    <dgm:pt modelId="{22BCC6B0-4ED6-40BD-9B8C-A3543512440D}">
      <dgm:prSet/>
      <dgm:spPr/>
      <dgm:t>
        <a:bodyPr/>
        <a:lstStyle/>
        <a:p>
          <a:r>
            <a:rPr lang="en-US"/>
            <a:t>Denied evacuation mandates longer care in place with less resources</a:t>
          </a:r>
        </a:p>
      </dgm:t>
    </dgm:pt>
    <dgm:pt modelId="{5AC7E85A-0D80-49B4-A193-46A7CD3207C7}" type="parTrans" cxnId="{1ABDA65A-0140-499E-80A2-2920FE0CE14A}">
      <dgm:prSet/>
      <dgm:spPr/>
      <dgm:t>
        <a:bodyPr/>
        <a:lstStyle/>
        <a:p>
          <a:endParaRPr lang="en-US"/>
        </a:p>
      </dgm:t>
    </dgm:pt>
    <dgm:pt modelId="{7E63E4BE-E18B-4CDF-A55C-DB484303A06A}" type="sibTrans" cxnId="{1ABDA65A-0140-499E-80A2-2920FE0CE14A}">
      <dgm:prSet/>
      <dgm:spPr/>
      <dgm:t>
        <a:bodyPr/>
        <a:lstStyle/>
        <a:p>
          <a:endParaRPr lang="en-US"/>
        </a:p>
      </dgm:t>
    </dgm:pt>
    <dgm:pt modelId="{F9BD67CB-0FE3-4F42-A1E6-42F7F4CB61F9}">
      <dgm:prSet/>
      <dgm:spPr/>
      <dgm:t>
        <a:bodyPr/>
        <a:lstStyle/>
        <a:p>
          <a:r>
            <a:rPr lang="en-US"/>
            <a:t>Blood as leading finite asset</a:t>
          </a:r>
        </a:p>
      </dgm:t>
    </dgm:pt>
    <dgm:pt modelId="{39D07E9F-A93E-4F72-8DC0-E9BFC68B03A6}" type="parTrans" cxnId="{094683B7-2467-416D-AA86-0D766BD8F14B}">
      <dgm:prSet/>
      <dgm:spPr/>
      <dgm:t>
        <a:bodyPr/>
        <a:lstStyle/>
        <a:p>
          <a:endParaRPr lang="en-US"/>
        </a:p>
      </dgm:t>
    </dgm:pt>
    <dgm:pt modelId="{58CBD05F-2319-49C3-8938-9D8B8811A12A}" type="sibTrans" cxnId="{094683B7-2467-416D-AA86-0D766BD8F14B}">
      <dgm:prSet/>
      <dgm:spPr/>
      <dgm:t>
        <a:bodyPr/>
        <a:lstStyle/>
        <a:p>
          <a:endParaRPr lang="en-US"/>
        </a:p>
      </dgm:t>
    </dgm:pt>
    <dgm:pt modelId="{FFA185DA-4163-490A-95C9-9B465DD61F88}">
      <dgm:prSet/>
      <dgm:spPr/>
      <dgm:t>
        <a:bodyPr/>
        <a:lstStyle/>
        <a:p>
          <a:r>
            <a:rPr lang="en-US"/>
            <a:t>Drones impair the discernment of the frontline and the rear</a:t>
          </a:r>
        </a:p>
      </dgm:t>
    </dgm:pt>
    <dgm:pt modelId="{BCFCC783-E28A-48FD-AE67-E8E6A9A436BC}" type="parTrans" cxnId="{3B278C46-A30D-4711-A678-74A41B23D2A2}">
      <dgm:prSet/>
      <dgm:spPr/>
      <dgm:t>
        <a:bodyPr/>
        <a:lstStyle/>
        <a:p>
          <a:endParaRPr lang="en-US"/>
        </a:p>
      </dgm:t>
    </dgm:pt>
    <dgm:pt modelId="{CBB355EE-32D7-444F-89D8-BBC2E98060EB}" type="sibTrans" cxnId="{3B278C46-A30D-4711-A678-74A41B23D2A2}">
      <dgm:prSet/>
      <dgm:spPr/>
      <dgm:t>
        <a:bodyPr/>
        <a:lstStyle/>
        <a:p>
          <a:endParaRPr lang="en-US"/>
        </a:p>
      </dgm:t>
    </dgm:pt>
    <dgm:pt modelId="{DE83A874-04B9-4B67-A932-917E67A1644C}" type="pres">
      <dgm:prSet presAssocID="{22D72E57-D45D-4B54-B8B4-408B7D5C9F0D}" presName="linear" presStyleCnt="0">
        <dgm:presLayoutVars>
          <dgm:animLvl val="lvl"/>
          <dgm:resizeHandles val="exact"/>
        </dgm:presLayoutVars>
      </dgm:prSet>
      <dgm:spPr/>
    </dgm:pt>
    <dgm:pt modelId="{1C4CD1F7-34D6-4FDE-A9CF-8660FA47CAA8}" type="pres">
      <dgm:prSet presAssocID="{A5ADE075-9A32-457F-A688-B69321689B7B}" presName="parentText" presStyleLbl="node1" presStyleIdx="0" presStyleCnt="5">
        <dgm:presLayoutVars>
          <dgm:chMax val="0"/>
          <dgm:bulletEnabled val="1"/>
        </dgm:presLayoutVars>
      </dgm:prSet>
      <dgm:spPr/>
    </dgm:pt>
    <dgm:pt modelId="{3AE2847A-A0DE-42B3-B37C-175FDE96ED0B}" type="pres">
      <dgm:prSet presAssocID="{D4849235-3911-4CA4-A3B1-D1B6B86E29D5}" presName="spacer" presStyleCnt="0"/>
      <dgm:spPr/>
    </dgm:pt>
    <dgm:pt modelId="{17AB36D3-711C-4EA7-A5AA-736B3FB46083}" type="pres">
      <dgm:prSet presAssocID="{D013B53C-8EF6-4782-9B2F-B0A322BF180B}" presName="parentText" presStyleLbl="node1" presStyleIdx="1" presStyleCnt="5">
        <dgm:presLayoutVars>
          <dgm:chMax val="0"/>
          <dgm:bulletEnabled val="1"/>
        </dgm:presLayoutVars>
      </dgm:prSet>
      <dgm:spPr/>
    </dgm:pt>
    <dgm:pt modelId="{69017541-4FD8-4485-BB46-1844F430BFA4}" type="pres">
      <dgm:prSet presAssocID="{D013B53C-8EF6-4782-9B2F-B0A322BF180B}" presName="childText" presStyleLbl="revTx" presStyleIdx="0" presStyleCnt="1">
        <dgm:presLayoutVars>
          <dgm:bulletEnabled val="1"/>
        </dgm:presLayoutVars>
      </dgm:prSet>
      <dgm:spPr/>
    </dgm:pt>
    <dgm:pt modelId="{1904CDDC-0FA6-410D-8B5C-1D67BD03922A}" type="pres">
      <dgm:prSet presAssocID="{22BCC6B0-4ED6-40BD-9B8C-A3543512440D}" presName="parentText" presStyleLbl="node1" presStyleIdx="2" presStyleCnt="5">
        <dgm:presLayoutVars>
          <dgm:chMax val="0"/>
          <dgm:bulletEnabled val="1"/>
        </dgm:presLayoutVars>
      </dgm:prSet>
      <dgm:spPr/>
    </dgm:pt>
    <dgm:pt modelId="{6B105986-54B0-4F6B-9540-9877A9D5D3E9}" type="pres">
      <dgm:prSet presAssocID="{7E63E4BE-E18B-4CDF-A55C-DB484303A06A}" presName="spacer" presStyleCnt="0"/>
      <dgm:spPr/>
    </dgm:pt>
    <dgm:pt modelId="{95B2BF05-2F6F-477D-BC69-222A470A44CA}" type="pres">
      <dgm:prSet presAssocID="{F9BD67CB-0FE3-4F42-A1E6-42F7F4CB61F9}" presName="parentText" presStyleLbl="node1" presStyleIdx="3" presStyleCnt="5">
        <dgm:presLayoutVars>
          <dgm:chMax val="0"/>
          <dgm:bulletEnabled val="1"/>
        </dgm:presLayoutVars>
      </dgm:prSet>
      <dgm:spPr/>
    </dgm:pt>
    <dgm:pt modelId="{07244422-39D0-4484-8DA8-ED0A67043CC4}" type="pres">
      <dgm:prSet presAssocID="{58CBD05F-2319-49C3-8938-9D8B8811A12A}" presName="spacer" presStyleCnt="0"/>
      <dgm:spPr/>
    </dgm:pt>
    <dgm:pt modelId="{AFCCF9BC-BD46-499B-A7D0-E9163355C905}" type="pres">
      <dgm:prSet presAssocID="{FFA185DA-4163-490A-95C9-9B465DD61F88}" presName="parentText" presStyleLbl="node1" presStyleIdx="4" presStyleCnt="5">
        <dgm:presLayoutVars>
          <dgm:chMax val="0"/>
          <dgm:bulletEnabled val="1"/>
        </dgm:presLayoutVars>
      </dgm:prSet>
      <dgm:spPr/>
    </dgm:pt>
  </dgm:ptLst>
  <dgm:cxnLst>
    <dgm:cxn modelId="{B3338001-0AF6-4051-A7D5-755C5FE0EA1A}" type="presOf" srcId="{22D72E57-D45D-4B54-B8B4-408B7D5C9F0D}" destId="{DE83A874-04B9-4B67-A932-917E67A1644C}" srcOrd="0" destOrd="0" presId="urn:microsoft.com/office/officeart/2005/8/layout/vList2"/>
    <dgm:cxn modelId="{D1B9A410-6DB3-4D17-8EF6-E0FF2B8388A6}" srcId="{22D72E57-D45D-4B54-B8B4-408B7D5C9F0D}" destId="{D013B53C-8EF6-4782-9B2F-B0A322BF180B}" srcOrd="1" destOrd="0" parTransId="{0EEDF8F5-8DD2-4732-BC4D-AEFD216FEEBB}" sibTransId="{9B86959B-9F38-482C-AB4D-6CE4EFBDEF2B}"/>
    <dgm:cxn modelId="{81D4653B-EF69-4013-AD66-333B257E3286}" type="presOf" srcId="{F9BD67CB-0FE3-4F42-A1E6-42F7F4CB61F9}" destId="{95B2BF05-2F6F-477D-BC69-222A470A44CA}" srcOrd="0" destOrd="0" presId="urn:microsoft.com/office/officeart/2005/8/layout/vList2"/>
    <dgm:cxn modelId="{01AA4C3C-65B0-45BF-B4EC-82B110FF918D}" type="presOf" srcId="{FFA185DA-4163-490A-95C9-9B465DD61F88}" destId="{AFCCF9BC-BD46-499B-A7D0-E9163355C905}" srcOrd="0" destOrd="0" presId="urn:microsoft.com/office/officeart/2005/8/layout/vList2"/>
    <dgm:cxn modelId="{5D6E095D-6F81-4AD0-BF29-F895B3ACE7C7}" type="presOf" srcId="{18D92A37-E590-4848-96DF-8D23E63CDCB7}" destId="{69017541-4FD8-4485-BB46-1844F430BFA4}" srcOrd="0" destOrd="0" presId="urn:microsoft.com/office/officeart/2005/8/layout/vList2"/>
    <dgm:cxn modelId="{54CA675E-B1D9-4B84-97B5-370366298771}" type="presOf" srcId="{D013B53C-8EF6-4782-9B2F-B0A322BF180B}" destId="{17AB36D3-711C-4EA7-A5AA-736B3FB46083}" srcOrd="0" destOrd="0" presId="urn:microsoft.com/office/officeart/2005/8/layout/vList2"/>
    <dgm:cxn modelId="{FBE52764-9136-497B-927F-E80E55843EFC}" srcId="{22D72E57-D45D-4B54-B8B4-408B7D5C9F0D}" destId="{A5ADE075-9A32-457F-A688-B69321689B7B}" srcOrd="0" destOrd="0" parTransId="{8F5FA43E-ED96-41A0-8980-8322B3723CBA}" sibTransId="{D4849235-3911-4CA4-A3B1-D1B6B86E29D5}"/>
    <dgm:cxn modelId="{3B278C46-A30D-4711-A678-74A41B23D2A2}" srcId="{22D72E57-D45D-4B54-B8B4-408B7D5C9F0D}" destId="{FFA185DA-4163-490A-95C9-9B465DD61F88}" srcOrd="4" destOrd="0" parTransId="{BCFCC783-E28A-48FD-AE67-E8E6A9A436BC}" sibTransId="{CBB355EE-32D7-444F-89D8-BBC2E98060EB}"/>
    <dgm:cxn modelId="{4E8F4C6A-C56B-484C-8987-674AC2AE9CCA}" srcId="{D013B53C-8EF6-4782-9B2F-B0A322BF180B}" destId="{18D92A37-E590-4848-96DF-8D23E63CDCB7}" srcOrd="0" destOrd="0" parTransId="{FDCB39DA-3F97-43E5-BC40-A36B56DA8DD7}" sibTransId="{BAF5B71E-A9E1-40BB-94E3-96E720E87709}"/>
    <dgm:cxn modelId="{8A30496C-F636-4296-956A-0F718DEEC625}" type="presOf" srcId="{22BCC6B0-4ED6-40BD-9B8C-A3543512440D}" destId="{1904CDDC-0FA6-410D-8B5C-1D67BD03922A}" srcOrd="0" destOrd="0" presId="urn:microsoft.com/office/officeart/2005/8/layout/vList2"/>
    <dgm:cxn modelId="{51218771-FAFC-4A24-8D5F-D50FEE385ED9}" type="presOf" srcId="{A5ADE075-9A32-457F-A688-B69321689B7B}" destId="{1C4CD1F7-34D6-4FDE-A9CF-8660FA47CAA8}" srcOrd="0" destOrd="0" presId="urn:microsoft.com/office/officeart/2005/8/layout/vList2"/>
    <dgm:cxn modelId="{1ABDA65A-0140-499E-80A2-2920FE0CE14A}" srcId="{22D72E57-D45D-4B54-B8B4-408B7D5C9F0D}" destId="{22BCC6B0-4ED6-40BD-9B8C-A3543512440D}" srcOrd="2" destOrd="0" parTransId="{5AC7E85A-0D80-49B4-A193-46A7CD3207C7}" sibTransId="{7E63E4BE-E18B-4CDF-A55C-DB484303A06A}"/>
    <dgm:cxn modelId="{094683B7-2467-416D-AA86-0D766BD8F14B}" srcId="{22D72E57-D45D-4B54-B8B4-408B7D5C9F0D}" destId="{F9BD67CB-0FE3-4F42-A1E6-42F7F4CB61F9}" srcOrd="3" destOrd="0" parTransId="{39D07E9F-A93E-4F72-8DC0-E9BFC68B03A6}" sibTransId="{58CBD05F-2319-49C3-8938-9D8B8811A12A}"/>
    <dgm:cxn modelId="{0AC34FF2-9970-4282-AB1D-AEE87A45D143}" type="presParOf" srcId="{DE83A874-04B9-4B67-A932-917E67A1644C}" destId="{1C4CD1F7-34D6-4FDE-A9CF-8660FA47CAA8}" srcOrd="0" destOrd="0" presId="urn:microsoft.com/office/officeart/2005/8/layout/vList2"/>
    <dgm:cxn modelId="{4458D930-80BA-42B1-9F00-81FF2FD5516A}" type="presParOf" srcId="{DE83A874-04B9-4B67-A932-917E67A1644C}" destId="{3AE2847A-A0DE-42B3-B37C-175FDE96ED0B}" srcOrd="1" destOrd="0" presId="urn:microsoft.com/office/officeart/2005/8/layout/vList2"/>
    <dgm:cxn modelId="{F11344C4-4B32-4E7B-A143-A073B9F570E5}" type="presParOf" srcId="{DE83A874-04B9-4B67-A932-917E67A1644C}" destId="{17AB36D3-711C-4EA7-A5AA-736B3FB46083}" srcOrd="2" destOrd="0" presId="urn:microsoft.com/office/officeart/2005/8/layout/vList2"/>
    <dgm:cxn modelId="{09A518FF-BE64-459E-8915-920BB5E978AF}" type="presParOf" srcId="{DE83A874-04B9-4B67-A932-917E67A1644C}" destId="{69017541-4FD8-4485-BB46-1844F430BFA4}" srcOrd="3" destOrd="0" presId="urn:microsoft.com/office/officeart/2005/8/layout/vList2"/>
    <dgm:cxn modelId="{A08638D0-F934-4041-BC76-77FABA1ECA12}" type="presParOf" srcId="{DE83A874-04B9-4B67-A932-917E67A1644C}" destId="{1904CDDC-0FA6-410D-8B5C-1D67BD03922A}" srcOrd="4" destOrd="0" presId="urn:microsoft.com/office/officeart/2005/8/layout/vList2"/>
    <dgm:cxn modelId="{D9425D57-0263-4622-B2DC-B5F83138D2A5}" type="presParOf" srcId="{DE83A874-04B9-4B67-A932-917E67A1644C}" destId="{6B105986-54B0-4F6B-9540-9877A9D5D3E9}" srcOrd="5" destOrd="0" presId="urn:microsoft.com/office/officeart/2005/8/layout/vList2"/>
    <dgm:cxn modelId="{8D4A0A29-B5D0-4344-8C45-3FE7D71822EE}" type="presParOf" srcId="{DE83A874-04B9-4B67-A932-917E67A1644C}" destId="{95B2BF05-2F6F-477D-BC69-222A470A44CA}" srcOrd="6" destOrd="0" presId="urn:microsoft.com/office/officeart/2005/8/layout/vList2"/>
    <dgm:cxn modelId="{ADE56528-56A6-4650-AAC7-4C5A7B32DE05}" type="presParOf" srcId="{DE83A874-04B9-4B67-A932-917E67A1644C}" destId="{07244422-39D0-4484-8DA8-ED0A67043CC4}" srcOrd="7" destOrd="0" presId="urn:microsoft.com/office/officeart/2005/8/layout/vList2"/>
    <dgm:cxn modelId="{EB9465D7-7D01-4C1D-A7D7-FBC0E468EEEE}" type="presParOf" srcId="{DE83A874-04B9-4B67-A932-917E67A1644C}" destId="{AFCCF9BC-BD46-499B-A7D0-E9163355C905}"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5013FE-12AE-451F-8B4A-0243EFAED0CA}">
      <dsp:nvSpPr>
        <dsp:cNvPr id="0" name=""/>
        <dsp:cNvSpPr/>
      </dsp:nvSpPr>
      <dsp:spPr>
        <a:xfrm>
          <a:off x="2733935" y="25796"/>
          <a:ext cx="914689" cy="914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Identify hazards</a:t>
          </a:r>
        </a:p>
      </dsp:txBody>
      <dsp:txXfrm>
        <a:off x="2733935" y="25796"/>
        <a:ext cx="914689" cy="914689"/>
      </dsp:txXfrm>
    </dsp:sp>
    <dsp:sp modelId="{DC4F2B4B-D48C-4CA3-8ED3-68B72C069847}">
      <dsp:nvSpPr>
        <dsp:cNvPr id="0" name=""/>
        <dsp:cNvSpPr/>
      </dsp:nvSpPr>
      <dsp:spPr>
        <a:xfrm>
          <a:off x="578798" y="-1081"/>
          <a:ext cx="3433787" cy="3433787"/>
        </a:xfrm>
        <a:prstGeom prst="circularArrow">
          <a:avLst>
            <a:gd name="adj1" fmla="val 5194"/>
            <a:gd name="adj2" fmla="val 335493"/>
            <a:gd name="adj3" fmla="val 21294952"/>
            <a:gd name="adj4" fmla="val 19764740"/>
            <a:gd name="adj5" fmla="val 606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A7F0C5-07B0-4598-BE56-A10E13FDB297}">
      <dsp:nvSpPr>
        <dsp:cNvPr id="0" name=""/>
        <dsp:cNvSpPr/>
      </dsp:nvSpPr>
      <dsp:spPr>
        <a:xfrm>
          <a:off x="3287439" y="1729306"/>
          <a:ext cx="914689" cy="914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Assess hazards</a:t>
          </a:r>
        </a:p>
      </dsp:txBody>
      <dsp:txXfrm>
        <a:off x="3287439" y="1729306"/>
        <a:ext cx="914689" cy="914689"/>
      </dsp:txXfrm>
    </dsp:sp>
    <dsp:sp modelId="{87838403-4665-42E3-AE7E-09CD191386A6}">
      <dsp:nvSpPr>
        <dsp:cNvPr id="0" name=""/>
        <dsp:cNvSpPr/>
      </dsp:nvSpPr>
      <dsp:spPr>
        <a:xfrm>
          <a:off x="578798" y="-1081"/>
          <a:ext cx="3433787" cy="3433787"/>
        </a:xfrm>
        <a:prstGeom prst="circularArrow">
          <a:avLst>
            <a:gd name="adj1" fmla="val 5194"/>
            <a:gd name="adj2" fmla="val 335493"/>
            <a:gd name="adj3" fmla="val 4016470"/>
            <a:gd name="adj4" fmla="val 2251805"/>
            <a:gd name="adj5" fmla="val 606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48E5A3-D00A-4F58-B8B5-69C8B2983154}">
      <dsp:nvSpPr>
        <dsp:cNvPr id="0" name=""/>
        <dsp:cNvSpPr/>
      </dsp:nvSpPr>
      <dsp:spPr>
        <a:xfrm>
          <a:off x="1838347" y="2782133"/>
          <a:ext cx="914689" cy="914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Develop controls</a:t>
          </a:r>
        </a:p>
      </dsp:txBody>
      <dsp:txXfrm>
        <a:off x="1838347" y="2782133"/>
        <a:ext cx="914689" cy="914689"/>
      </dsp:txXfrm>
    </dsp:sp>
    <dsp:sp modelId="{D1E7B3D1-849C-4EC1-9AD0-B99143831B47}">
      <dsp:nvSpPr>
        <dsp:cNvPr id="0" name=""/>
        <dsp:cNvSpPr/>
      </dsp:nvSpPr>
      <dsp:spPr>
        <a:xfrm>
          <a:off x="578798" y="-1081"/>
          <a:ext cx="3433787" cy="3433787"/>
        </a:xfrm>
        <a:prstGeom prst="circularArrow">
          <a:avLst>
            <a:gd name="adj1" fmla="val 5194"/>
            <a:gd name="adj2" fmla="val 335493"/>
            <a:gd name="adj3" fmla="val 8212701"/>
            <a:gd name="adj4" fmla="val 6448036"/>
            <a:gd name="adj5" fmla="val 606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E2C496-1FC6-4947-B849-7E9D51BB23D2}">
      <dsp:nvSpPr>
        <dsp:cNvPr id="0" name=""/>
        <dsp:cNvSpPr/>
      </dsp:nvSpPr>
      <dsp:spPr>
        <a:xfrm>
          <a:off x="389255" y="1729306"/>
          <a:ext cx="914689" cy="914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Implement controls</a:t>
          </a:r>
        </a:p>
      </dsp:txBody>
      <dsp:txXfrm>
        <a:off x="389255" y="1729306"/>
        <a:ext cx="914689" cy="914689"/>
      </dsp:txXfrm>
    </dsp:sp>
    <dsp:sp modelId="{F592F9DA-3A0D-4FB2-AEB8-ADAF3EE92F0A}">
      <dsp:nvSpPr>
        <dsp:cNvPr id="0" name=""/>
        <dsp:cNvSpPr/>
      </dsp:nvSpPr>
      <dsp:spPr>
        <a:xfrm>
          <a:off x="578798" y="-1081"/>
          <a:ext cx="3433787" cy="3433787"/>
        </a:xfrm>
        <a:prstGeom prst="circularArrow">
          <a:avLst>
            <a:gd name="adj1" fmla="val 5194"/>
            <a:gd name="adj2" fmla="val 335493"/>
            <a:gd name="adj3" fmla="val 12299766"/>
            <a:gd name="adj4" fmla="val 10769555"/>
            <a:gd name="adj5" fmla="val 606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6BD9C8-51AC-4AC5-9D72-604A19B0D5C8}">
      <dsp:nvSpPr>
        <dsp:cNvPr id="0" name=""/>
        <dsp:cNvSpPr/>
      </dsp:nvSpPr>
      <dsp:spPr>
        <a:xfrm>
          <a:off x="942759" y="25796"/>
          <a:ext cx="914689" cy="914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Supervise and Evaluate</a:t>
          </a:r>
        </a:p>
      </dsp:txBody>
      <dsp:txXfrm>
        <a:off x="942759" y="25796"/>
        <a:ext cx="914689" cy="914689"/>
      </dsp:txXfrm>
    </dsp:sp>
    <dsp:sp modelId="{2F58FB24-E423-41B1-A7BB-E82141B247F8}">
      <dsp:nvSpPr>
        <dsp:cNvPr id="0" name=""/>
        <dsp:cNvSpPr/>
      </dsp:nvSpPr>
      <dsp:spPr>
        <a:xfrm>
          <a:off x="578798" y="-1081"/>
          <a:ext cx="3433787" cy="3433787"/>
        </a:xfrm>
        <a:prstGeom prst="circularArrow">
          <a:avLst>
            <a:gd name="adj1" fmla="val 5194"/>
            <a:gd name="adj2" fmla="val 335493"/>
            <a:gd name="adj3" fmla="val 16867453"/>
            <a:gd name="adj4" fmla="val 15197053"/>
            <a:gd name="adj5" fmla="val 606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FB6594-6B05-418C-8398-56A36FAFABB4}">
      <dsp:nvSpPr>
        <dsp:cNvPr id="0" name=""/>
        <dsp:cNvSpPr/>
      </dsp:nvSpPr>
      <dsp:spPr>
        <a:xfrm>
          <a:off x="0" y="90742"/>
          <a:ext cx="5349240" cy="11547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PACE is the joint communications construct (Primary · Alternate · Contingency · Emergency) </a:t>
          </a:r>
        </a:p>
      </dsp:txBody>
      <dsp:txXfrm>
        <a:off x="56372" y="147114"/>
        <a:ext cx="5236496" cy="1042045"/>
      </dsp:txXfrm>
    </dsp:sp>
    <dsp:sp modelId="{CF6E373E-4845-4336-A02F-27E5AE09F98E}">
      <dsp:nvSpPr>
        <dsp:cNvPr id="0" name=""/>
        <dsp:cNvSpPr/>
      </dsp:nvSpPr>
      <dsp:spPr>
        <a:xfrm>
          <a:off x="0" y="1245532"/>
          <a:ext cx="5349240" cy="499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838"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conventional–contingency–crisis tiers and onto JTS CPG tiering: acceptable · good · better · best.</a:t>
          </a:r>
        </a:p>
      </dsp:txBody>
      <dsp:txXfrm>
        <a:off x="0" y="1245532"/>
        <a:ext cx="5349240" cy="499904"/>
      </dsp:txXfrm>
    </dsp:sp>
    <dsp:sp modelId="{CACB03E3-5E87-44D5-B71A-80DC72DD546C}">
      <dsp:nvSpPr>
        <dsp:cNvPr id="0" name=""/>
        <dsp:cNvSpPr/>
      </dsp:nvSpPr>
      <dsp:spPr>
        <a:xfrm>
          <a:off x="0" y="1745437"/>
          <a:ext cx="5349240" cy="11547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Degradation and recovery triggers are pre-briefed and bidirectional — the decision leaves the individual at the bedside.</a:t>
          </a:r>
        </a:p>
      </dsp:txBody>
      <dsp:txXfrm>
        <a:off x="56372" y="1801809"/>
        <a:ext cx="5236496" cy="1042045"/>
      </dsp:txXfrm>
    </dsp:sp>
    <dsp:sp modelId="{5650D20B-3F6A-4BD9-AEE2-ACA73093AABA}">
      <dsp:nvSpPr>
        <dsp:cNvPr id="0" name=""/>
        <dsp:cNvSpPr/>
      </dsp:nvSpPr>
      <dsp:spPr>
        <a:xfrm>
          <a:off x="0" y="2960707"/>
          <a:ext cx="5349240" cy="11547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Operational, moral, and ethical framework to minimize individual moral hazard and offer leadership </a:t>
          </a:r>
        </a:p>
      </dsp:txBody>
      <dsp:txXfrm>
        <a:off x="56372" y="3017079"/>
        <a:ext cx="5236496" cy="10420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4CD1F7-34D6-4FDE-A9CF-8660FA47CAA8}">
      <dsp:nvSpPr>
        <dsp:cNvPr id="0" name=""/>
        <dsp:cNvSpPr/>
      </dsp:nvSpPr>
      <dsp:spPr>
        <a:xfrm>
          <a:off x="0" y="216494"/>
          <a:ext cx="9792502" cy="62361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CSC as told through the tourniquet</a:t>
          </a:r>
        </a:p>
      </dsp:txBody>
      <dsp:txXfrm>
        <a:off x="30442" y="246936"/>
        <a:ext cx="9731618" cy="562726"/>
      </dsp:txXfrm>
    </dsp:sp>
    <dsp:sp modelId="{17AB36D3-711C-4EA7-A5AA-736B3FB46083}">
      <dsp:nvSpPr>
        <dsp:cNvPr id="0" name=""/>
        <dsp:cNvSpPr/>
      </dsp:nvSpPr>
      <dsp:spPr>
        <a:xfrm>
          <a:off x="0" y="914984"/>
          <a:ext cx="9792502" cy="62361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Golden hour </a:t>
          </a:r>
          <a:r>
            <a:rPr lang="en-US" sz="2600" kern="1200">
              <a:sym typeface="Wingdings" panose="05000000000000000000" pitchFamily="2" charset="2"/>
            </a:rPr>
            <a:t></a:t>
          </a:r>
          <a:r>
            <a:rPr lang="en-US" sz="2600" kern="1200"/>
            <a:t> Golden day</a:t>
          </a:r>
        </a:p>
      </dsp:txBody>
      <dsp:txXfrm>
        <a:off x="30442" y="945426"/>
        <a:ext cx="9731618" cy="562726"/>
      </dsp:txXfrm>
    </dsp:sp>
    <dsp:sp modelId="{69017541-4FD8-4485-BB46-1844F430BFA4}">
      <dsp:nvSpPr>
        <dsp:cNvPr id="0" name=""/>
        <dsp:cNvSpPr/>
      </dsp:nvSpPr>
      <dsp:spPr>
        <a:xfrm>
          <a:off x="0" y="1538594"/>
          <a:ext cx="9792502"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0912"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Airway is not a part of early assessments in some units</a:t>
          </a:r>
        </a:p>
      </dsp:txBody>
      <dsp:txXfrm>
        <a:off x="0" y="1538594"/>
        <a:ext cx="9792502" cy="430560"/>
      </dsp:txXfrm>
    </dsp:sp>
    <dsp:sp modelId="{1904CDDC-0FA6-410D-8B5C-1D67BD03922A}">
      <dsp:nvSpPr>
        <dsp:cNvPr id="0" name=""/>
        <dsp:cNvSpPr/>
      </dsp:nvSpPr>
      <dsp:spPr>
        <a:xfrm>
          <a:off x="0" y="1969155"/>
          <a:ext cx="9792502" cy="62361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Denied evacuation mandates longer care in place with less resources</a:t>
          </a:r>
        </a:p>
      </dsp:txBody>
      <dsp:txXfrm>
        <a:off x="30442" y="1999597"/>
        <a:ext cx="9731618" cy="562726"/>
      </dsp:txXfrm>
    </dsp:sp>
    <dsp:sp modelId="{95B2BF05-2F6F-477D-BC69-222A470A44CA}">
      <dsp:nvSpPr>
        <dsp:cNvPr id="0" name=""/>
        <dsp:cNvSpPr/>
      </dsp:nvSpPr>
      <dsp:spPr>
        <a:xfrm>
          <a:off x="0" y="2667645"/>
          <a:ext cx="9792502" cy="62361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Blood as leading finite asset</a:t>
          </a:r>
        </a:p>
      </dsp:txBody>
      <dsp:txXfrm>
        <a:off x="30442" y="2698087"/>
        <a:ext cx="9731618" cy="562726"/>
      </dsp:txXfrm>
    </dsp:sp>
    <dsp:sp modelId="{AFCCF9BC-BD46-499B-A7D0-E9163355C905}">
      <dsp:nvSpPr>
        <dsp:cNvPr id="0" name=""/>
        <dsp:cNvSpPr/>
      </dsp:nvSpPr>
      <dsp:spPr>
        <a:xfrm>
          <a:off x="0" y="3366135"/>
          <a:ext cx="9792502" cy="62361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Drones impair the discernment of the frontline and the rear</a:t>
          </a:r>
        </a:p>
      </dsp:txBody>
      <dsp:txXfrm>
        <a:off x="30442" y="3396577"/>
        <a:ext cx="9731618" cy="562726"/>
      </dsp:txXfrm>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8602D767-A7AD-2A4D-8EE9-3EE579528567}" type="datetimeFigureOut">
              <a:rPr lang="en-US" smtClean="0"/>
              <a:t>6/9/2026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1ECC96D7-0221-AE4D-ADA6-DA9CF5969364}" type="slidenum">
              <a:rPr lang="en-US" smtClean="0"/>
              <a:t>‹#›</a:t>
            </a:fld>
            <a:endParaRPr lang="en-US"/>
          </a:p>
        </p:txBody>
      </p:sp>
    </p:spTree>
    <p:extLst>
      <p:ext uri="{BB962C8B-B14F-4D97-AF65-F5344CB8AC3E}">
        <p14:creationId xmlns:p14="http://schemas.microsoft.com/office/powerpoint/2010/main" val="484171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DISCLOSURE (≈15 sec): The views I share today are my own and do not represent the Department of the Navy, the Department of Defense, or the U.S. Government.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A0C2F"/>
        </a:solidFill>
        <a:effectLst/>
      </p:bgPr>
    </p:bg>
    <p:spTree>
      <p:nvGrpSpPr>
        <p:cNvPr id="1" name=""/>
        <p:cNvGrpSpPr/>
        <p:nvPr/>
      </p:nvGrpSpPr>
      <p:grpSpPr>
        <a:xfrm>
          <a:off x="0" y="0"/>
          <a:ext cx="0" cy="0"/>
          <a:chOff x="0" y="0"/>
          <a:chExt cx="0" cy="0"/>
        </a:xfrm>
      </p:grpSpPr>
      <p:sp>
        <p:nvSpPr>
          <p:cNvPr id="2" name="Text 0"/>
          <p:cNvSpPr/>
          <p:nvPr/>
        </p:nvSpPr>
        <p:spPr>
          <a:xfrm>
            <a:off x="822960" y="1554480"/>
            <a:ext cx="10515600" cy="1280160"/>
          </a:xfrm>
          <a:prstGeom prst="rect">
            <a:avLst/>
          </a:prstGeom>
          <a:noFill/>
          <a:ln/>
        </p:spPr>
        <p:txBody>
          <a:bodyPr wrap="square" rtlCol="0" anchor="ctr"/>
          <a:lstStyle/>
          <a:p>
            <a:pPr marL="0" indent="0" algn="l">
              <a:buNone/>
            </a:pPr>
            <a:r>
              <a:rPr lang="en-US" sz="4200" b="1" dirty="0">
                <a:solidFill>
                  <a:srgbClr val="FFFFFF"/>
                </a:solidFill>
                <a:latin typeface="Georgia" pitchFamily="34" charset="0"/>
                <a:ea typeface="Georgia" pitchFamily="34" charset="-122"/>
                <a:cs typeface="Georgia" pitchFamily="34" charset="-120"/>
              </a:rPr>
              <a:t>Crisis Standards of Care For Large Scale Combat Operational Planning</a:t>
            </a:r>
            <a:endParaRPr lang="en-US" sz="4200" dirty="0"/>
          </a:p>
        </p:txBody>
      </p:sp>
      <p:sp>
        <p:nvSpPr>
          <p:cNvPr id="3" name="Text 1"/>
          <p:cNvSpPr/>
          <p:nvPr/>
        </p:nvSpPr>
        <p:spPr>
          <a:xfrm>
            <a:off x="841248" y="2788920"/>
            <a:ext cx="10058400" cy="640080"/>
          </a:xfrm>
          <a:prstGeom prst="rect">
            <a:avLst/>
          </a:prstGeom>
          <a:noFill/>
          <a:ln/>
        </p:spPr>
        <p:txBody>
          <a:bodyPr wrap="square" rtlCol="0" anchor="ctr"/>
          <a:lstStyle/>
          <a:p>
            <a:pPr marL="0" indent="0" algn="l">
              <a:buNone/>
            </a:pPr>
            <a:r>
              <a:rPr lang="en-US" sz="2200" i="1" dirty="0">
                <a:solidFill>
                  <a:srgbClr val="FFC72C"/>
                </a:solidFill>
                <a:latin typeface="Georgia" pitchFamily="34" charset="0"/>
              </a:rPr>
              <a:t>A Staged Military Planning Framework</a:t>
            </a:r>
            <a:endParaRPr lang="en-US" sz="2200" dirty="0"/>
          </a:p>
        </p:txBody>
      </p:sp>
      <p:sp>
        <p:nvSpPr>
          <p:cNvPr id="4" name="Text 2"/>
          <p:cNvSpPr/>
          <p:nvPr/>
        </p:nvSpPr>
        <p:spPr>
          <a:xfrm>
            <a:off x="841248" y="4937760"/>
            <a:ext cx="10515600" cy="1280160"/>
          </a:xfrm>
          <a:prstGeom prst="rect">
            <a:avLst/>
          </a:prstGeom>
          <a:noFill/>
          <a:ln/>
        </p:spPr>
        <p:txBody>
          <a:bodyPr wrap="square" rtlCol="0" anchor="ctr"/>
          <a:lstStyle/>
          <a:p>
            <a:pPr marL="0" indent="0" algn="l">
              <a:lnSpc>
                <a:spcPct val="125000"/>
              </a:lnSpc>
              <a:buNone/>
            </a:pPr>
            <a:r>
              <a:rPr lang="en-US" sz="1500" b="1" dirty="0">
                <a:solidFill>
                  <a:srgbClr val="FFFFFF"/>
                </a:solidFill>
                <a:latin typeface="Calibri" pitchFamily="34" charset="0"/>
                <a:ea typeface="Calibri" pitchFamily="34" charset="-122"/>
                <a:cs typeface="Calibri" pitchFamily="34" charset="-120"/>
              </a:rPr>
              <a:t>CDR Brian S. Ford, MC, USN</a:t>
            </a:r>
            <a:endParaRPr lang="en-US" sz="1500" dirty="0"/>
          </a:p>
          <a:p>
            <a:pPr marL="0" indent="0" algn="l">
              <a:lnSpc>
                <a:spcPct val="125000"/>
              </a:lnSpc>
              <a:buNone/>
            </a:pPr>
            <a:r>
              <a:rPr lang="en-US" sz="1500" dirty="0">
                <a:solidFill>
                  <a:srgbClr val="F7DAD0"/>
                </a:solidFill>
                <a:latin typeface="Calibri" pitchFamily="34" charset="0"/>
                <a:ea typeface="Calibri" pitchFamily="34" charset="-122"/>
                <a:cs typeface="Calibri" pitchFamily="34" charset="-120"/>
              </a:rPr>
              <a:t>Chief Medical Officer, 1st Medical Battalion, 1st MLG</a:t>
            </a:r>
            <a:endParaRPr lang="en-US" sz="1500" dirty="0"/>
          </a:p>
          <a:p>
            <a:pPr marL="0" indent="0" algn="l">
              <a:lnSpc>
                <a:spcPct val="125000"/>
              </a:lnSpc>
              <a:buNone/>
            </a:pPr>
            <a:r>
              <a:rPr lang="en-US" sz="1500" dirty="0">
                <a:solidFill>
                  <a:srgbClr val="F7DAD0"/>
                </a:solidFill>
                <a:latin typeface="Calibri" pitchFamily="34" charset="0"/>
                <a:ea typeface="Calibri" pitchFamily="34" charset="-122"/>
                <a:cs typeface="Calibri" pitchFamily="34" charset="-120"/>
              </a:rPr>
              <a:t>National Academies MedPrep Forum  ·  Crisis Standards of Care  ·  11 June 2026</a:t>
            </a:r>
            <a:endParaRPr lang="en-US" sz="1500" dirty="0"/>
          </a:p>
        </p:txBody>
      </p:sp>
      <p:sp>
        <p:nvSpPr>
          <p:cNvPr id="5" name="Text 3"/>
          <p:cNvSpPr/>
          <p:nvPr/>
        </p:nvSpPr>
        <p:spPr>
          <a:xfrm>
            <a:off x="841248" y="6263640"/>
            <a:ext cx="10515600" cy="457200"/>
          </a:xfrm>
          <a:prstGeom prst="rect">
            <a:avLst/>
          </a:prstGeom>
          <a:noFill/>
          <a:ln/>
        </p:spPr>
        <p:txBody>
          <a:bodyPr wrap="square" rtlCol="0" anchor="ctr"/>
          <a:lstStyle/>
          <a:p>
            <a:pPr marL="0" indent="0" algn="l">
              <a:buNone/>
            </a:pPr>
            <a:r>
              <a:rPr lang="en-US" sz="1050" i="1" dirty="0">
                <a:solidFill>
                  <a:srgbClr val="F7DAD0"/>
                </a:solidFill>
                <a:latin typeface="Calibri" pitchFamily="34" charset="0"/>
                <a:ea typeface="Calibri" pitchFamily="34" charset="-122"/>
                <a:cs typeface="Calibri" pitchFamily="34" charset="-120"/>
              </a:rPr>
              <a:t>The views expressed are those of the author and do not necessarily reflect the official policy or position of the Department of the Navy, the Department of Defense, or the U.S. Government. Slides designed with </a:t>
            </a:r>
            <a:r>
              <a:rPr lang="en-US" sz="1050" i="1" dirty="0" err="1">
                <a:solidFill>
                  <a:srgbClr val="F7DAD0"/>
                </a:solidFill>
                <a:latin typeface="Calibri" pitchFamily="34" charset="0"/>
                <a:ea typeface="Calibri" pitchFamily="34" charset="-122"/>
                <a:cs typeface="Calibri" pitchFamily="34" charset="-120"/>
              </a:rPr>
              <a:t>Artifical</a:t>
            </a:r>
            <a:r>
              <a:rPr lang="en-US" sz="1050" i="1" dirty="0">
                <a:solidFill>
                  <a:srgbClr val="F7DAD0"/>
                </a:solidFill>
                <a:latin typeface="Calibri" pitchFamily="34" charset="0"/>
                <a:ea typeface="Calibri" pitchFamily="34" charset="-122"/>
                <a:cs typeface="Calibri" pitchFamily="34" charset="-120"/>
              </a:rPr>
              <a:t> Intelligence Resources.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77240"/>
          </a:xfrm>
          <a:prstGeom prst="rect">
            <a:avLst/>
          </a:prstGeom>
          <a:noFill/>
          <a:ln/>
        </p:spPr>
        <p:txBody>
          <a:bodyPr wrap="square" lIns="0" tIns="0" rIns="0" bIns="0" rtlCol="0" anchor="ctr"/>
          <a:lstStyle/>
          <a:p>
            <a:pPr marL="0" indent="0" algn="l">
              <a:buNone/>
            </a:pPr>
            <a:r>
              <a:rPr lang="en-US" sz="3000" b="1" dirty="0">
                <a:solidFill>
                  <a:srgbClr val="1F3A5F"/>
                </a:solidFill>
                <a:latin typeface="Georgia" pitchFamily="34" charset="0"/>
                <a:ea typeface="Georgia" pitchFamily="34" charset="-122"/>
                <a:cs typeface="Georgia" pitchFamily="34" charset="-120"/>
              </a:rPr>
              <a:t>Risk by Design: Operational Risk Management and Crisis Standards of Care</a:t>
            </a:r>
            <a:endParaRPr lang="en-US" sz="3000" dirty="0"/>
          </a:p>
        </p:txBody>
      </p:sp>
      <p:sp>
        <p:nvSpPr>
          <p:cNvPr id="3" name="Text 1"/>
          <p:cNvSpPr/>
          <p:nvPr/>
        </p:nvSpPr>
        <p:spPr>
          <a:xfrm>
            <a:off x="579120" y="5446936"/>
            <a:ext cx="6298532" cy="896112"/>
          </a:xfrm>
          <a:prstGeom prst="rect">
            <a:avLst/>
          </a:prstGeom>
          <a:noFill/>
          <a:ln/>
        </p:spPr>
        <p:txBody>
          <a:bodyPr wrap="square" rtlCol="0" anchor="ctr"/>
          <a:lstStyle/>
          <a:p>
            <a:pPr marL="800100" lvl="1" indent="-342900">
              <a:lnSpc>
                <a:spcPct val="105000"/>
              </a:lnSpc>
              <a:spcAft>
                <a:spcPts val="1400"/>
              </a:spcAft>
              <a:buSzPct val="100000"/>
              <a:buChar char="•"/>
            </a:pPr>
            <a:r>
              <a:rPr lang="en-US" sz="1600" dirty="0">
                <a:solidFill>
                  <a:srgbClr val="222222"/>
                </a:solidFill>
                <a:latin typeface="Calibri" pitchFamily="34" charset="0"/>
                <a:ea typeface="Calibri" pitchFamily="34" charset="-122"/>
                <a:cs typeface="Calibri" pitchFamily="34" charset="-120"/>
              </a:rPr>
              <a:t>Accept no Unnecessary Risk</a:t>
            </a:r>
          </a:p>
          <a:p>
            <a:pPr marL="800100" lvl="1" indent="-342900">
              <a:lnSpc>
                <a:spcPct val="105000"/>
              </a:lnSpc>
              <a:spcAft>
                <a:spcPts val="1400"/>
              </a:spcAft>
              <a:buSzPct val="100000"/>
              <a:buChar char="•"/>
            </a:pPr>
            <a:r>
              <a:rPr lang="en-US" sz="1600" dirty="0">
                <a:solidFill>
                  <a:srgbClr val="222222"/>
                </a:solidFill>
                <a:latin typeface="Calibri" pitchFamily="34" charset="0"/>
                <a:ea typeface="Calibri" pitchFamily="34" charset="-122"/>
                <a:cs typeface="Calibri" pitchFamily="34" charset="-120"/>
              </a:rPr>
              <a:t>Accept risk when benefits </a:t>
            </a:r>
            <a:r>
              <a:rPr lang="en-US" sz="1600" dirty="0" err="1">
                <a:solidFill>
                  <a:srgbClr val="222222"/>
                </a:solidFill>
                <a:latin typeface="Calibri" pitchFamily="34" charset="0"/>
                <a:ea typeface="Calibri" pitchFamily="34" charset="-122"/>
                <a:cs typeface="Calibri" pitchFamily="34" charset="-120"/>
              </a:rPr>
              <a:t>outweight</a:t>
            </a:r>
            <a:r>
              <a:rPr lang="en-US" sz="1600" dirty="0">
                <a:solidFill>
                  <a:srgbClr val="222222"/>
                </a:solidFill>
                <a:latin typeface="Calibri" pitchFamily="34" charset="0"/>
                <a:ea typeface="Calibri" pitchFamily="34" charset="-122"/>
                <a:cs typeface="Calibri" pitchFamily="34" charset="-120"/>
              </a:rPr>
              <a:t> the costs</a:t>
            </a:r>
          </a:p>
          <a:p>
            <a:pPr marL="800100" lvl="1" indent="-342900">
              <a:lnSpc>
                <a:spcPct val="105000"/>
              </a:lnSpc>
              <a:spcAft>
                <a:spcPts val="1400"/>
              </a:spcAft>
              <a:buSzPct val="100000"/>
              <a:buChar char="•"/>
            </a:pPr>
            <a:r>
              <a:rPr lang="en-US" sz="1600" dirty="0">
                <a:solidFill>
                  <a:srgbClr val="222222"/>
                </a:solidFill>
                <a:latin typeface="Calibri" pitchFamily="34" charset="0"/>
                <a:ea typeface="Calibri" pitchFamily="34" charset="-122"/>
                <a:cs typeface="Calibri" pitchFamily="34" charset="-120"/>
              </a:rPr>
              <a:t>make risk decisions at the right level </a:t>
            </a:r>
          </a:p>
          <a:p>
            <a:pPr marL="800100" lvl="1" indent="-342900">
              <a:lnSpc>
                <a:spcPct val="105000"/>
              </a:lnSpc>
              <a:spcAft>
                <a:spcPts val="1400"/>
              </a:spcAft>
              <a:buSzPct val="100000"/>
              <a:buChar char="•"/>
            </a:pPr>
            <a:r>
              <a:rPr lang="en-US" sz="1600" dirty="0">
                <a:solidFill>
                  <a:srgbClr val="222222"/>
                </a:solidFill>
                <a:latin typeface="Calibri" pitchFamily="34" charset="0"/>
                <a:ea typeface="Calibri" pitchFamily="34" charset="-122"/>
                <a:cs typeface="Calibri" pitchFamily="34" charset="-120"/>
              </a:rPr>
              <a:t>anticipate and manage risk by planning.</a:t>
            </a:r>
            <a:endParaRPr lang="en-US" sz="1600" dirty="0"/>
          </a:p>
        </p:txBody>
      </p:sp>
      <p:sp>
        <p:nvSpPr>
          <p:cNvPr id="4" name="Text 2"/>
          <p:cNvSpPr/>
          <p:nvPr/>
        </p:nvSpPr>
        <p:spPr>
          <a:xfrm>
            <a:off x="7315200" y="1325880"/>
            <a:ext cx="4297680" cy="457200"/>
          </a:xfrm>
          <a:prstGeom prst="rect">
            <a:avLst/>
          </a:prstGeom>
          <a:noFill/>
          <a:ln/>
        </p:spPr>
        <p:txBody>
          <a:bodyPr wrap="square" lIns="0" tIns="0" rIns="0" bIns="0" rtlCol="0" anchor="ctr"/>
          <a:lstStyle/>
          <a:p>
            <a:pPr marL="0" indent="0" algn="l">
              <a:buNone/>
            </a:pPr>
            <a:r>
              <a:rPr lang="en-US" sz="1700" b="1" dirty="0">
                <a:solidFill>
                  <a:srgbClr val="8A2433"/>
                </a:solidFill>
                <a:latin typeface="Georgia" pitchFamily="34" charset="0"/>
                <a:ea typeface="Georgia" pitchFamily="34" charset="-122"/>
                <a:cs typeface="Georgia" pitchFamily="34" charset="-120"/>
              </a:rPr>
              <a:t>Quality Expectations</a:t>
            </a:r>
            <a:endParaRPr lang="en-US" sz="1700" dirty="0"/>
          </a:p>
        </p:txBody>
      </p:sp>
      <p:sp>
        <p:nvSpPr>
          <p:cNvPr id="5" name="Shape 3"/>
          <p:cNvSpPr/>
          <p:nvPr/>
        </p:nvSpPr>
        <p:spPr>
          <a:xfrm>
            <a:off x="7315200" y="1874520"/>
            <a:ext cx="4297680" cy="457200"/>
          </a:xfrm>
          <a:prstGeom prst="roundRect">
            <a:avLst>
              <a:gd name="adj" fmla="val 12000"/>
            </a:avLst>
          </a:prstGeom>
          <a:solidFill>
            <a:srgbClr val="1F3A5F"/>
          </a:solidFill>
          <a:ln/>
        </p:spPr>
        <p:txBody>
          <a:bodyPr/>
          <a:lstStyle/>
          <a:p>
            <a:endParaRPr lang="en-US"/>
          </a:p>
        </p:txBody>
      </p:sp>
      <p:sp>
        <p:nvSpPr>
          <p:cNvPr id="6" name="Text 4"/>
          <p:cNvSpPr/>
          <p:nvPr/>
        </p:nvSpPr>
        <p:spPr>
          <a:xfrm>
            <a:off x="7315200" y="1874520"/>
            <a:ext cx="42976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Safe</a:t>
            </a:r>
            <a:endParaRPr lang="en-US" sz="1400" dirty="0"/>
          </a:p>
        </p:txBody>
      </p:sp>
      <p:sp>
        <p:nvSpPr>
          <p:cNvPr id="7" name="Shape 5"/>
          <p:cNvSpPr/>
          <p:nvPr/>
        </p:nvSpPr>
        <p:spPr>
          <a:xfrm>
            <a:off x="7315200" y="2441448"/>
            <a:ext cx="4297680" cy="457200"/>
          </a:xfrm>
          <a:prstGeom prst="roundRect">
            <a:avLst>
              <a:gd name="adj" fmla="val 12000"/>
            </a:avLst>
          </a:prstGeom>
          <a:solidFill>
            <a:srgbClr val="1F3A5F"/>
          </a:solidFill>
          <a:ln/>
        </p:spPr>
        <p:txBody>
          <a:bodyPr/>
          <a:lstStyle/>
          <a:p>
            <a:endParaRPr lang="en-US"/>
          </a:p>
        </p:txBody>
      </p:sp>
      <p:sp>
        <p:nvSpPr>
          <p:cNvPr id="8" name="Text 6"/>
          <p:cNvSpPr/>
          <p:nvPr/>
        </p:nvSpPr>
        <p:spPr>
          <a:xfrm>
            <a:off x="7315200" y="2441448"/>
            <a:ext cx="42976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Timely</a:t>
            </a:r>
            <a:endParaRPr lang="en-US" sz="1400" dirty="0"/>
          </a:p>
        </p:txBody>
      </p:sp>
      <p:sp>
        <p:nvSpPr>
          <p:cNvPr id="9" name="Shape 7"/>
          <p:cNvSpPr/>
          <p:nvPr/>
        </p:nvSpPr>
        <p:spPr>
          <a:xfrm>
            <a:off x="7315200" y="3008376"/>
            <a:ext cx="4297680" cy="457200"/>
          </a:xfrm>
          <a:prstGeom prst="roundRect">
            <a:avLst>
              <a:gd name="adj" fmla="val 12000"/>
            </a:avLst>
          </a:prstGeom>
          <a:solidFill>
            <a:srgbClr val="1F3A5F"/>
          </a:solidFill>
          <a:ln/>
        </p:spPr>
        <p:txBody>
          <a:bodyPr/>
          <a:lstStyle/>
          <a:p>
            <a:endParaRPr lang="en-US"/>
          </a:p>
        </p:txBody>
      </p:sp>
      <p:sp>
        <p:nvSpPr>
          <p:cNvPr id="10" name="Text 8"/>
          <p:cNvSpPr/>
          <p:nvPr/>
        </p:nvSpPr>
        <p:spPr>
          <a:xfrm>
            <a:off x="7315200" y="3008376"/>
            <a:ext cx="42976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Effective</a:t>
            </a:r>
            <a:endParaRPr lang="en-US" sz="1400" dirty="0"/>
          </a:p>
        </p:txBody>
      </p:sp>
      <p:sp>
        <p:nvSpPr>
          <p:cNvPr id="11" name="Shape 9"/>
          <p:cNvSpPr/>
          <p:nvPr/>
        </p:nvSpPr>
        <p:spPr>
          <a:xfrm>
            <a:off x="7315200" y="3575304"/>
            <a:ext cx="4297680" cy="457200"/>
          </a:xfrm>
          <a:prstGeom prst="roundRect">
            <a:avLst>
              <a:gd name="adj" fmla="val 12000"/>
            </a:avLst>
          </a:prstGeom>
          <a:solidFill>
            <a:srgbClr val="1F3A5F"/>
          </a:solidFill>
          <a:ln/>
        </p:spPr>
        <p:txBody>
          <a:bodyPr/>
          <a:lstStyle/>
          <a:p>
            <a:endParaRPr lang="en-US"/>
          </a:p>
        </p:txBody>
      </p:sp>
      <p:sp>
        <p:nvSpPr>
          <p:cNvPr id="12" name="Text 10"/>
          <p:cNvSpPr/>
          <p:nvPr/>
        </p:nvSpPr>
        <p:spPr>
          <a:xfrm>
            <a:off x="7315200" y="3575304"/>
            <a:ext cx="42976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Efficient</a:t>
            </a:r>
            <a:endParaRPr lang="en-US" sz="1400" dirty="0"/>
          </a:p>
        </p:txBody>
      </p:sp>
      <p:sp>
        <p:nvSpPr>
          <p:cNvPr id="13" name="Shape 11"/>
          <p:cNvSpPr/>
          <p:nvPr/>
        </p:nvSpPr>
        <p:spPr>
          <a:xfrm>
            <a:off x="7315200" y="4142232"/>
            <a:ext cx="4297680" cy="457200"/>
          </a:xfrm>
          <a:prstGeom prst="roundRect">
            <a:avLst>
              <a:gd name="adj" fmla="val 12000"/>
            </a:avLst>
          </a:prstGeom>
          <a:solidFill>
            <a:srgbClr val="1F3A5F"/>
          </a:solidFill>
          <a:ln/>
        </p:spPr>
        <p:txBody>
          <a:bodyPr/>
          <a:lstStyle/>
          <a:p>
            <a:endParaRPr lang="en-US"/>
          </a:p>
        </p:txBody>
      </p:sp>
      <p:sp>
        <p:nvSpPr>
          <p:cNvPr id="14" name="Text 12"/>
          <p:cNvSpPr/>
          <p:nvPr/>
        </p:nvSpPr>
        <p:spPr>
          <a:xfrm>
            <a:off x="7315200" y="4142232"/>
            <a:ext cx="42976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Equitable</a:t>
            </a:r>
            <a:endParaRPr lang="en-US" sz="1400" dirty="0"/>
          </a:p>
        </p:txBody>
      </p:sp>
      <p:sp>
        <p:nvSpPr>
          <p:cNvPr id="15" name="Shape 13"/>
          <p:cNvSpPr/>
          <p:nvPr/>
        </p:nvSpPr>
        <p:spPr>
          <a:xfrm>
            <a:off x="7315200" y="4709160"/>
            <a:ext cx="4297680" cy="457200"/>
          </a:xfrm>
          <a:prstGeom prst="roundRect">
            <a:avLst>
              <a:gd name="adj" fmla="val 12000"/>
            </a:avLst>
          </a:prstGeom>
          <a:solidFill>
            <a:srgbClr val="1F3A5F"/>
          </a:solidFill>
          <a:ln/>
        </p:spPr>
        <p:txBody>
          <a:bodyPr/>
          <a:lstStyle/>
          <a:p>
            <a:endParaRPr lang="en-US"/>
          </a:p>
        </p:txBody>
      </p:sp>
      <p:sp>
        <p:nvSpPr>
          <p:cNvPr id="16" name="Text 14"/>
          <p:cNvSpPr/>
          <p:nvPr/>
        </p:nvSpPr>
        <p:spPr>
          <a:xfrm>
            <a:off x="7315200" y="4709160"/>
            <a:ext cx="42976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Patient-centered</a:t>
            </a:r>
            <a:endParaRPr lang="en-US" sz="1400" dirty="0"/>
          </a:p>
        </p:txBody>
      </p:sp>
      <p:sp>
        <p:nvSpPr>
          <p:cNvPr id="17" name="Text 15"/>
          <p:cNvSpPr/>
          <p:nvPr/>
        </p:nvSpPr>
        <p:spPr>
          <a:xfrm>
            <a:off x="7315200" y="5321808"/>
            <a:ext cx="4297680" cy="822960"/>
          </a:xfrm>
          <a:prstGeom prst="rect">
            <a:avLst/>
          </a:prstGeom>
          <a:noFill/>
          <a:ln/>
        </p:spPr>
        <p:txBody>
          <a:bodyPr wrap="square" rtlCol="0" anchor="ctr"/>
          <a:lstStyle/>
          <a:p>
            <a:pPr marL="0" indent="0" algn="l">
              <a:buNone/>
            </a:pPr>
            <a:r>
              <a:rPr lang="en-US" sz="1300" i="1" dirty="0">
                <a:solidFill>
                  <a:srgbClr val="5B6470"/>
                </a:solidFill>
                <a:latin typeface="Calibri" pitchFamily="34" charset="0"/>
                <a:ea typeface="Calibri" pitchFamily="34" charset="-122"/>
                <a:cs typeface="Calibri" pitchFamily="34" charset="-120"/>
              </a:rPr>
              <a:t>In austere care you cannot maximize every aim at once — decide which to flex and which to protect.</a:t>
            </a:r>
            <a:endParaRPr lang="en-US" sz="1300" dirty="0"/>
          </a:p>
        </p:txBody>
      </p:sp>
      <p:graphicFrame>
        <p:nvGraphicFramePr>
          <p:cNvPr id="18" name="Diagram 17">
            <a:extLst>
              <a:ext uri="{FF2B5EF4-FFF2-40B4-BE49-F238E27FC236}">
                <a16:creationId xmlns:a16="http://schemas.microsoft.com/office/drawing/2014/main" id="{E5B8F58A-3AFF-6892-9899-613E71A38B7D}"/>
              </a:ext>
            </a:extLst>
          </p:cNvPr>
          <p:cNvGraphicFramePr/>
          <p:nvPr>
            <p:extLst>
              <p:ext uri="{D42A27DB-BD31-4B8C-83A1-F6EECF244321}">
                <p14:modId xmlns:p14="http://schemas.microsoft.com/office/powerpoint/2010/main" val="2385794440"/>
              </p:ext>
            </p:extLst>
          </p:nvPr>
        </p:nvGraphicFramePr>
        <p:xfrm>
          <a:off x="648368" y="1161288"/>
          <a:ext cx="4591384" cy="36968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77240"/>
          </a:xfrm>
          <a:prstGeom prst="rect">
            <a:avLst/>
          </a:prstGeom>
          <a:noFill/>
          <a:ln/>
        </p:spPr>
        <p:txBody>
          <a:bodyPr wrap="square" lIns="0" tIns="0" rIns="0" bIns="0" rtlCol="0" anchor="ctr"/>
          <a:lstStyle/>
          <a:p>
            <a:pPr marL="0" indent="0" algn="l">
              <a:buNone/>
            </a:pPr>
            <a:r>
              <a:rPr lang="en-US" sz="3000" b="1" dirty="0">
                <a:solidFill>
                  <a:srgbClr val="1F3A5F"/>
                </a:solidFill>
                <a:latin typeface="Georgia" pitchFamily="34" charset="0"/>
                <a:ea typeface="Georgia" pitchFamily="34" charset="-122"/>
                <a:cs typeface="Georgia" pitchFamily="34" charset="-120"/>
              </a:rPr>
              <a:t>Why Triage Alone Can't Carry It</a:t>
            </a:r>
            <a:endParaRPr lang="en-US" sz="3000" dirty="0"/>
          </a:p>
        </p:txBody>
      </p:sp>
      <p:pic>
        <p:nvPicPr>
          <p:cNvPr id="3" name="Image 0" descr="slide3.png"/>
          <p:cNvPicPr>
            <a:picLocks noChangeAspect="1"/>
          </p:cNvPicPr>
          <p:nvPr/>
        </p:nvPicPr>
        <p:blipFill>
          <a:blip r:embed="rId3"/>
          <a:stretch>
            <a:fillRect/>
          </a:stretch>
        </p:blipFill>
        <p:spPr>
          <a:xfrm>
            <a:off x="1242837" y="1035566"/>
            <a:ext cx="10062862" cy="556811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394960" cy="1005840"/>
          </a:xfrm>
          <a:prstGeom prst="rect">
            <a:avLst/>
          </a:prstGeom>
          <a:noFill/>
          <a:ln/>
        </p:spPr>
        <p:txBody>
          <a:bodyPr wrap="square" lIns="0" tIns="0" rIns="0" bIns="0" rtlCol="0" anchor="ctr"/>
          <a:lstStyle/>
          <a:p>
            <a:pPr marL="0" indent="0" algn="l">
              <a:buNone/>
            </a:pPr>
            <a:r>
              <a:rPr lang="en-US" sz="2600" b="1" dirty="0">
                <a:solidFill>
                  <a:srgbClr val="1F3A5F"/>
                </a:solidFill>
                <a:latin typeface="Georgia" pitchFamily="34" charset="0"/>
                <a:ea typeface="Georgia" pitchFamily="34" charset="-122"/>
                <a:cs typeface="Georgia" pitchFamily="34" charset="-120"/>
              </a:rPr>
              <a:t>PACE ↔ Conventional · Contingency · Crisis</a:t>
            </a:r>
            <a:endParaRPr lang="en-US" sz="2600" dirty="0"/>
          </a:p>
        </p:txBody>
      </p:sp>
      <p:graphicFrame>
        <p:nvGraphicFramePr>
          <p:cNvPr id="5" name="Diagram 4">
            <a:extLst>
              <a:ext uri="{FF2B5EF4-FFF2-40B4-BE49-F238E27FC236}">
                <a16:creationId xmlns:a16="http://schemas.microsoft.com/office/drawing/2014/main" id="{A8802A23-0CA7-33E2-A433-FC1CF1D4FC75}"/>
              </a:ext>
            </a:extLst>
          </p:cNvPr>
          <p:cNvGraphicFramePr/>
          <p:nvPr>
            <p:extLst>
              <p:ext uri="{D42A27DB-BD31-4B8C-83A1-F6EECF244321}">
                <p14:modId xmlns:p14="http://schemas.microsoft.com/office/powerpoint/2010/main" val="617582473"/>
              </p:ext>
            </p:extLst>
          </p:nvPr>
        </p:nvGraphicFramePr>
        <p:xfrm>
          <a:off x="548640" y="1645920"/>
          <a:ext cx="5349240" cy="42062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Image 0" descr="slide4.png"/>
          <p:cNvPicPr>
            <a:picLocks noChangeAspect="1"/>
          </p:cNvPicPr>
          <p:nvPr/>
        </p:nvPicPr>
        <p:blipFill>
          <a:blip r:embed="rId8"/>
          <a:stretch>
            <a:fillRect/>
          </a:stretch>
        </p:blipFill>
        <p:spPr>
          <a:xfrm>
            <a:off x="5943600" y="-533400"/>
            <a:ext cx="5855918" cy="7924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77240"/>
          </a:xfrm>
          <a:prstGeom prst="rect">
            <a:avLst/>
          </a:prstGeom>
          <a:noFill/>
          <a:ln/>
        </p:spPr>
        <p:txBody>
          <a:bodyPr wrap="square" lIns="0" tIns="0" rIns="0" bIns="0" rtlCol="0" anchor="ctr"/>
          <a:lstStyle/>
          <a:p>
            <a:pPr marL="0" indent="0" algn="l">
              <a:buNone/>
            </a:pPr>
            <a:r>
              <a:rPr lang="en-US" sz="3000" b="1" dirty="0">
                <a:solidFill>
                  <a:srgbClr val="1F3A5F"/>
                </a:solidFill>
                <a:latin typeface="Georgia" pitchFamily="34" charset="0"/>
                <a:ea typeface="Georgia" pitchFamily="34" charset="-122"/>
                <a:cs typeface="Georgia" pitchFamily="34" charset="-120"/>
              </a:rPr>
              <a:t>Synchronized Mental Model</a:t>
            </a:r>
            <a:endParaRPr lang="en-US" sz="3000" dirty="0"/>
          </a:p>
        </p:txBody>
      </p:sp>
      <p:pic>
        <p:nvPicPr>
          <p:cNvPr id="3" name="Image 0" descr="slide5.png"/>
          <p:cNvPicPr>
            <a:picLocks noChangeAspect="1"/>
          </p:cNvPicPr>
          <p:nvPr/>
        </p:nvPicPr>
        <p:blipFill>
          <a:blip r:embed="rId3"/>
          <a:stretch>
            <a:fillRect/>
          </a:stretch>
        </p:blipFill>
        <p:spPr>
          <a:xfrm>
            <a:off x="784242" y="1100889"/>
            <a:ext cx="10195056" cy="560728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77240"/>
          </a:xfrm>
          <a:prstGeom prst="rect">
            <a:avLst/>
          </a:prstGeom>
          <a:noFill/>
          <a:ln/>
        </p:spPr>
        <p:txBody>
          <a:bodyPr wrap="square" lIns="0" tIns="0" rIns="0" bIns="0" rtlCol="0" anchor="ctr"/>
          <a:lstStyle/>
          <a:p>
            <a:pPr marL="0" indent="0" algn="l">
              <a:buNone/>
            </a:pPr>
            <a:r>
              <a:rPr lang="en-US" sz="3000" b="1" dirty="0">
                <a:solidFill>
                  <a:srgbClr val="1F3A5F"/>
                </a:solidFill>
                <a:latin typeface="Georgia" pitchFamily="34" charset="0"/>
                <a:ea typeface="Georgia" pitchFamily="34" charset="-122"/>
                <a:cs typeface="Georgia" pitchFamily="34" charset="-120"/>
              </a:rPr>
              <a:t>Worked Vignette — A 96-Hour Scenario</a:t>
            </a:r>
            <a:endParaRPr lang="en-US" sz="3000" dirty="0"/>
          </a:p>
        </p:txBody>
      </p:sp>
      <p:pic>
        <p:nvPicPr>
          <p:cNvPr id="3" name="Image 0" descr="slide6.png"/>
          <p:cNvPicPr>
            <a:picLocks noChangeAspect="1"/>
          </p:cNvPicPr>
          <p:nvPr/>
        </p:nvPicPr>
        <p:blipFill>
          <a:blip r:embed="rId3"/>
          <a:stretch>
            <a:fillRect/>
          </a:stretch>
        </p:blipFill>
        <p:spPr>
          <a:xfrm>
            <a:off x="1065276" y="1417320"/>
            <a:ext cx="10058400" cy="5029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0">
            <a:extLst>
              <a:ext uri="{FF2B5EF4-FFF2-40B4-BE49-F238E27FC236}">
                <a16:creationId xmlns:a16="http://schemas.microsoft.com/office/drawing/2014/main" id="{6B4640AF-13F2-BE4E-69B9-1FF4FE6162C2}"/>
              </a:ext>
            </a:extLst>
          </p:cNvPr>
          <p:cNvSpPr/>
          <p:nvPr/>
        </p:nvSpPr>
        <p:spPr>
          <a:xfrm>
            <a:off x="548640" y="384048"/>
            <a:ext cx="11064240" cy="777240"/>
          </a:xfrm>
          <a:prstGeom prst="rect">
            <a:avLst/>
          </a:prstGeom>
          <a:noFill/>
          <a:ln/>
        </p:spPr>
        <p:txBody>
          <a:bodyPr wrap="square" lIns="0" tIns="0" rIns="0" bIns="0" rtlCol="0" anchor="ctr"/>
          <a:lstStyle/>
          <a:p>
            <a:pPr marL="0" indent="0" algn="l">
              <a:buNone/>
            </a:pPr>
            <a:r>
              <a:rPr lang="en-US" sz="3000" b="1" dirty="0">
                <a:solidFill>
                  <a:srgbClr val="1F3A5F"/>
                </a:solidFill>
                <a:latin typeface="Georgia" pitchFamily="34" charset="0"/>
                <a:ea typeface="Georgia" pitchFamily="34" charset="-122"/>
                <a:cs typeface="Georgia" pitchFamily="34" charset="-120"/>
              </a:rPr>
              <a:t>Crisis Standards of Care Lessons Learned: Great Power Competition</a:t>
            </a:r>
            <a:endParaRPr lang="en-US" sz="3000" dirty="0"/>
          </a:p>
        </p:txBody>
      </p:sp>
      <p:graphicFrame>
        <p:nvGraphicFramePr>
          <p:cNvPr id="9" name="Diagram 8">
            <a:extLst>
              <a:ext uri="{FF2B5EF4-FFF2-40B4-BE49-F238E27FC236}">
                <a16:creationId xmlns:a16="http://schemas.microsoft.com/office/drawing/2014/main" id="{134A5DE3-1140-6096-45E1-ED5FD3ED79BB}"/>
              </a:ext>
            </a:extLst>
          </p:cNvPr>
          <p:cNvGraphicFramePr/>
          <p:nvPr>
            <p:extLst>
              <p:ext uri="{D42A27DB-BD31-4B8C-83A1-F6EECF244321}">
                <p14:modId xmlns:p14="http://schemas.microsoft.com/office/powerpoint/2010/main" val="959594525"/>
              </p:ext>
            </p:extLst>
          </p:nvPr>
        </p:nvGraphicFramePr>
        <p:xfrm>
          <a:off x="548640" y="1645920"/>
          <a:ext cx="9792502" cy="420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01588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77240"/>
          </a:xfrm>
          <a:prstGeom prst="rect">
            <a:avLst/>
          </a:prstGeom>
          <a:noFill/>
          <a:ln/>
        </p:spPr>
        <p:txBody>
          <a:bodyPr wrap="square" lIns="0" tIns="0" rIns="0" bIns="0" rtlCol="0" anchor="ctr"/>
          <a:lstStyle/>
          <a:p>
            <a:pPr marL="0" indent="0" algn="l">
              <a:buNone/>
            </a:pPr>
            <a:r>
              <a:rPr lang="en-US" sz="3000" b="1" dirty="0">
                <a:solidFill>
                  <a:srgbClr val="1F3A5F"/>
                </a:solidFill>
                <a:latin typeface="Georgia" pitchFamily="34" charset="0"/>
                <a:ea typeface="Georgia" pitchFamily="34" charset="-122"/>
                <a:cs typeface="Georgia" pitchFamily="34" charset="-120"/>
              </a:rPr>
              <a:t>Where Civilian CSC Strains — and Where We Align</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4105578998"/>
              </p:ext>
            </p:extLst>
          </p:nvPr>
        </p:nvGraphicFramePr>
        <p:xfrm>
          <a:off x="603504" y="1463040"/>
          <a:ext cx="10972800" cy="4114800"/>
        </p:xfrm>
        <a:graphic>
          <a:graphicData uri="http://schemas.openxmlformats.org/drawingml/2006/table">
            <a:tbl>
              <a:tblPr/>
              <a:tblGrid>
                <a:gridCol w="5486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548640">
                <a:tc>
                  <a:txBody>
                    <a:bodyPr/>
                    <a:lstStyle/>
                    <a:p>
                      <a:pPr marL="0" indent="0" algn="ctr">
                        <a:buNone/>
                      </a:pPr>
                      <a:r>
                        <a:rPr lang="en-US" sz="1600" b="1" dirty="0">
                          <a:solidFill>
                            <a:srgbClr val="FFFFFF"/>
                          </a:solidFill>
                          <a:latin typeface="Georgia" pitchFamily="34" charset="0"/>
                          <a:ea typeface="Georgia" pitchFamily="34" charset="-122"/>
                          <a:cs typeface="Georgia" pitchFamily="34" charset="-120"/>
                        </a:rPr>
                        <a:t>Where civilian CSC strains under LSCO</a:t>
                      </a:r>
                      <a:endParaRPr lang="en-US" sz="1600" dirty="0">
                        <a:latin typeface="Georgia" charset="0"/>
                        <a:ea typeface="Georgia" charset="0"/>
                        <a:cs typeface="Georgia"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8A2433"/>
                    </a:solidFill>
                  </a:tcPr>
                </a:tc>
                <a:tc>
                  <a:txBody>
                    <a:bodyPr/>
                    <a:lstStyle/>
                    <a:p>
                      <a:pPr marL="0" indent="0" algn="ctr">
                        <a:buNone/>
                      </a:pPr>
                      <a:r>
                        <a:rPr lang="en-US" sz="1600" b="1" dirty="0">
                          <a:solidFill>
                            <a:srgbClr val="FFFFFF"/>
                          </a:solidFill>
                          <a:latin typeface="Georgia" pitchFamily="34" charset="0"/>
                          <a:ea typeface="Georgia" pitchFamily="34" charset="-122"/>
                          <a:cs typeface="Georgia" pitchFamily="34" charset="-120"/>
                        </a:rPr>
                        <a:t>What military planning offers</a:t>
                      </a:r>
                      <a:endParaRPr lang="en-US" sz="1600" dirty="0">
                        <a:latin typeface="Georgia" charset="0"/>
                        <a:ea typeface="Georgia" charset="0"/>
                        <a:cs typeface="Georgia"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8C6A12"/>
                    </a:solidFill>
                  </a:tcPr>
                </a:tc>
                <a:extLst>
                  <a:ext uri="{0D108BD9-81ED-4DB2-BD59-A6C34878D82A}">
                    <a16:rowId xmlns:a16="http://schemas.microsoft.com/office/drawing/2014/main" val="10000"/>
                  </a:ext>
                </a:extLst>
              </a:tr>
              <a:tr h="868680">
                <a:tc>
                  <a:txBody>
                    <a:bodyPr/>
                    <a:lstStyle/>
                    <a:p>
                      <a:pPr marL="0" indent="0" algn="l">
                        <a:buNone/>
                      </a:pPr>
                      <a:r>
                        <a:rPr lang="en-US" sz="1500" dirty="0">
                          <a:solidFill>
                            <a:srgbClr val="222222"/>
                          </a:solidFill>
                          <a:latin typeface="Calibri" pitchFamily="34" charset="0"/>
                          <a:ea typeface="Calibri" pitchFamily="34" charset="-122"/>
                          <a:cs typeface="Calibri" pitchFamily="34" charset="-120"/>
                        </a:rPr>
                        <a:t>Assumes a recovering supply chain.</a:t>
                      </a:r>
                      <a:endParaRPr lang="en-US" sz="15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F0F2"/>
                    </a:solidFill>
                  </a:tcPr>
                </a:tc>
                <a:tc>
                  <a:txBody>
                    <a:bodyPr/>
                    <a:lstStyle/>
                    <a:p>
                      <a:pPr marL="0" indent="0" algn="l">
                        <a:buNone/>
                      </a:pPr>
                      <a:r>
                        <a:rPr lang="en-US" sz="1500" dirty="0">
                          <a:solidFill>
                            <a:srgbClr val="222222"/>
                          </a:solidFill>
                          <a:latin typeface="Calibri" pitchFamily="34" charset="0"/>
                          <a:ea typeface="Calibri" pitchFamily="34" charset="-122"/>
                          <a:cs typeface="Calibri" pitchFamily="34" charset="-120"/>
                        </a:rPr>
                        <a:t>Pre-built triggers with bidirectional recovery paths.</a:t>
                      </a:r>
                      <a:endParaRPr lang="en-US" sz="15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AF4E6"/>
                    </a:solidFill>
                  </a:tcPr>
                </a:tc>
                <a:extLst>
                  <a:ext uri="{0D108BD9-81ED-4DB2-BD59-A6C34878D82A}">
                    <a16:rowId xmlns:a16="http://schemas.microsoft.com/office/drawing/2014/main" val="10001"/>
                  </a:ext>
                </a:extLst>
              </a:tr>
              <a:tr h="960120">
                <a:tc>
                  <a:txBody>
                    <a:bodyPr/>
                    <a:lstStyle/>
                    <a:p>
                      <a:pPr marL="0" indent="0" algn="l">
                        <a:buNone/>
                      </a:pPr>
                      <a:r>
                        <a:rPr lang="en-US" sz="1500" dirty="0">
                          <a:solidFill>
                            <a:srgbClr val="222222"/>
                          </a:solidFill>
                          <a:latin typeface="Calibri" pitchFamily="34" charset="0"/>
                          <a:ea typeface="Calibri" pitchFamily="34" charset="-122"/>
                          <a:cs typeface="Calibri" pitchFamily="34" charset="-120"/>
                        </a:rPr>
                        <a:t>Assumes intact higher-echelon coordination and regulatory scaffolding (declarations, waivers).</a:t>
                      </a:r>
                      <a:endParaRPr lang="en-US" sz="15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F0F2"/>
                    </a:solidFill>
                  </a:tcPr>
                </a:tc>
                <a:tc>
                  <a:txBody>
                    <a:bodyPr/>
                    <a:lstStyle/>
                    <a:p>
                      <a:pPr marL="0" indent="0" algn="l">
                        <a:buNone/>
                      </a:pPr>
                      <a:r>
                        <a:rPr lang="en-US" sz="1500" dirty="0">
                          <a:solidFill>
                            <a:srgbClr val="222222"/>
                          </a:solidFill>
                          <a:latin typeface="Calibri" pitchFamily="34" charset="0"/>
                          <a:ea typeface="Calibri" pitchFamily="34" charset="-122"/>
                          <a:cs typeface="Calibri" pitchFamily="34" charset="-120"/>
                        </a:rPr>
                        <a:t>Shared status in a common operating picture — regional load-balancing and communications to higher headquarters</a:t>
                      </a:r>
                      <a:endParaRPr lang="en-US" sz="15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AF4E6"/>
                    </a:solidFill>
                  </a:tcPr>
                </a:tc>
                <a:extLst>
                  <a:ext uri="{0D108BD9-81ED-4DB2-BD59-A6C34878D82A}">
                    <a16:rowId xmlns:a16="http://schemas.microsoft.com/office/drawing/2014/main" val="10002"/>
                  </a:ext>
                </a:extLst>
              </a:tr>
              <a:tr h="914400">
                <a:tc>
                  <a:txBody>
                    <a:bodyPr/>
                    <a:lstStyle/>
                    <a:p>
                      <a:pPr marL="0" indent="0" algn="l">
                        <a:buNone/>
                      </a:pPr>
                      <a:r>
                        <a:rPr lang="en-US" sz="1500" dirty="0">
                          <a:solidFill>
                            <a:srgbClr val="222222"/>
                          </a:solidFill>
                          <a:latin typeface="Calibri" pitchFamily="34" charset="0"/>
                          <a:ea typeface="Calibri" pitchFamily="34" charset="-122"/>
                          <a:cs typeface="Calibri" pitchFamily="34" charset="-120"/>
                        </a:rPr>
                        <a:t>Under-specifies recovery, contested comms, and prolonged resource constraint.</a:t>
                      </a:r>
                      <a:endParaRPr lang="en-US" sz="15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F0F2"/>
                    </a:solidFill>
                  </a:tcPr>
                </a:tc>
                <a:tc>
                  <a:txBody>
                    <a:bodyPr/>
                    <a:lstStyle/>
                    <a:p>
                      <a:pPr marL="0" indent="0" algn="l">
                        <a:buNone/>
                      </a:pPr>
                      <a:r>
                        <a:rPr lang="en-US" sz="1500" dirty="0">
                          <a:solidFill>
                            <a:srgbClr val="222222"/>
                          </a:solidFill>
                          <a:latin typeface="Calibri" pitchFamily="34" charset="0"/>
                          <a:ea typeface="Calibri" pitchFamily="34" charset="-122"/>
                          <a:cs typeface="Calibri" pitchFamily="34" charset="-120"/>
                        </a:rPr>
                        <a:t>Pre-authorization at the right level — moral burden becomes institutional.</a:t>
                      </a:r>
                      <a:endParaRPr lang="en-US" sz="15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AF4E6"/>
                    </a:solidFill>
                  </a:tcPr>
                </a:tc>
                <a:extLst>
                  <a:ext uri="{0D108BD9-81ED-4DB2-BD59-A6C34878D82A}">
                    <a16:rowId xmlns:a16="http://schemas.microsoft.com/office/drawing/2014/main" val="10003"/>
                  </a:ext>
                </a:extLst>
              </a:tr>
              <a:tr h="822960">
                <a:tc>
                  <a:txBody>
                    <a:bodyPr/>
                    <a:lstStyle/>
                    <a:p>
                      <a:pPr marL="0" indent="0" algn="l">
                        <a:buNone/>
                      </a:pPr>
                      <a:r>
                        <a:rPr lang="en-US" sz="1500" dirty="0">
                          <a:solidFill>
                            <a:srgbClr val="222222"/>
                          </a:solidFill>
                          <a:latin typeface="Calibri" pitchFamily="34" charset="0"/>
                          <a:ea typeface="Calibri" pitchFamily="34" charset="-122"/>
                          <a:cs typeface="Calibri" pitchFamily="34" charset="-120"/>
                        </a:rPr>
                        <a:t>Austerity treated as the crisis, not the baseline.</a:t>
                      </a:r>
                      <a:endParaRPr lang="en-US" sz="15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F0F2"/>
                    </a:solidFill>
                  </a:tcPr>
                </a:tc>
                <a:tc>
                  <a:txBody>
                    <a:bodyPr/>
                    <a:lstStyle/>
                    <a:p>
                      <a:pPr marL="0" indent="0" algn="l">
                        <a:buNone/>
                      </a:pPr>
                      <a:r>
                        <a:rPr lang="en-US" sz="1500" dirty="0">
                          <a:solidFill>
                            <a:srgbClr val="222222"/>
                          </a:solidFill>
                          <a:latin typeface="Calibri" pitchFamily="34" charset="0"/>
                          <a:ea typeface="Calibri" pitchFamily="34" charset="-122"/>
                          <a:cs typeface="Calibri" pitchFamily="34" charset="-120"/>
                        </a:rPr>
                        <a:t>Treat CSC as a rehearsed capability, not a document on a shelf.</a:t>
                      </a:r>
                      <a:endParaRPr lang="en-US" sz="15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AF4E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4223D"/>
        </a:solidFill>
        <a:effectLst/>
      </p:bgPr>
    </p:bg>
    <p:spTree>
      <p:nvGrpSpPr>
        <p:cNvPr id="1" name=""/>
        <p:cNvGrpSpPr/>
        <p:nvPr/>
      </p:nvGrpSpPr>
      <p:grpSpPr>
        <a:xfrm>
          <a:off x="0" y="0"/>
          <a:ext cx="0" cy="0"/>
          <a:chOff x="0" y="0"/>
          <a:chExt cx="0" cy="0"/>
        </a:xfrm>
      </p:grpSpPr>
      <p:sp>
        <p:nvSpPr>
          <p:cNvPr id="2" name="Text 0"/>
          <p:cNvSpPr/>
          <p:nvPr/>
        </p:nvSpPr>
        <p:spPr>
          <a:xfrm>
            <a:off x="822960" y="1371600"/>
            <a:ext cx="10515600" cy="1188720"/>
          </a:xfrm>
          <a:prstGeom prst="rect">
            <a:avLst/>
          </a:prstGeom>
          <a:noFill/>
          <a:ln/>
        </p:spPr>
        <p:txBody>
          <a:bodyPr wrap="square" rtlCol="0" anchor="ctr"/>
          <a:lstStyle/>
          <a:p>
            <a:pPr marL="0" indent="0" algn="l">
              <a:buNone/>
            </a:pPr>
            <a:r>
              <a:rPr lang="en-US" sz="3400" b="1" dirty="0">
                <a:solidFill>
                  <a:srgbClr val="FFFFFF"/>
                </a:solidFill>
                <a:latin typeface="Georgia" pitchFamily="34" charset="0"/>
                <a:ea typeface="Georgia" pitchFamily="34" charset="-122"/>
                <a:cs typeface="Georgia" pitchFamily="34" charset="-120"/>
              </a:rPr>
              <a:t>Frameworks Are Scaffolding, Not Playbooks</a:t>
            </a:r>
            <a:endParaRPr lang="en-US" sz="3400" dirty="0"/>
          </a:p>
        </p:txBody>
      </p:sp>
      <p:sp>
        <p:nvSpPr>
          <p:cNvPr id="3" name="Text 1"/>
          <p:cNvSpPr/>
          <p:nvPr/>
        </p:nvSpPr>
        <p:spPr>
          <a:xfrm>
            <a:off x="841248" y="2743200"/>
            <a:ext cx="10241280" cy="1280160"/>
          </a:xfrm>
          <a:prstGeom prst="rect">
            <a:avLst/>
          </a:prstGeom>
          <a:noFill/>
          <a:ln/>
        </p:spPr>
        <p:txBody>
          <a:bodyPr wrap="square" rtlCol="0" anchor="ctr"/>
          <a:lstStyle/>
          <a:p>
            <a:pPr marL="0" indent="0" algn="l">
              <a:lnSpc>
                <a:spcPct val="120000"/>
              </a:lnSpc>
              <a:buNone/>
            </a:pPr>
            <a:r>
              <a:rPr lang="en-US" sz="1900" dirty="0">
                <a:solidFill>
                  <a:srgbClr val="C9D3E0"/>
                </a:solidFill>
                <a:latin typeface="Calibri" pitchFamily="34" charset="0"/>
                <a:ea typeface="Calibri" pitchFamily="34" charset="-122"/>
                <a:cs typeface="Calibri" pitchFamily="34" charset="-120"/>
              </a:rPr>
              <a:t>Treat CSC as a living, rehearsed capability — invest in indicators / sensing and communicate triggers, recovery, a shared operating picture, pre-authorization, and rehearsal before first contact.</a:t>
            </a:r>
            <a:endParaRPr lang="en-US" sz="1900" dirty="0"/>
          </a:p>
        </p:txBody>
      </p:sp>
      <p:sp>
        <p:nvSpPr>
          <p:cNvPr id="4" name="Text 2"/>
          <p:cNvSpPr/>
          <p:nvPr/>
        </p:nvSpPr>
        <p:spPr>
          <a:xfrm>
            <a:off x="841248" y="4389120"/>
            <a:ext cx="10241280" cy="1280160"/>
          </a:xfrm>
          <a:prstGeom prst="rect">
            <a:avLst/>
          </a:prstGeom>
          <a:noFill/>
          <a:ln/>
        </p:spPr>
        <p:txBody>
          <a:bodyPr wrap="square" rtlCol="0" anchor="ctr"/>
          <a:lstStyle/>
          <a:p>
            <a:pPr marL="0" indent="0" algn="l">
              <a:lnSpc>
                <a:spcPct val="120000"/>
              </a:lnSpc>
              <a:buNone/>
            </a:pPr>
            <a:r>
              <a:rPr lang="en-US" sz="1800" i="1" dirty="0">
                <a:solidFill>
                  <a:srgbClr val="C9A227"/>
                </a:solidFill>
                <a:latin typeface="Georgia" pitchFamily="34" charset="0"/>
                <a:ea typeface="Georgia" pitchFamily="34" charset="-122"/>
                <a:cs typeface="Georgia" pitchFamily="34" charset="-120"/>
              </a:rPr>
              <a:t>Hypothesis for field testing: A unit that has rehearsed PACE-mapped CSC before first contact will allocate, substitute, and recover better — and bring its people home with less moral injury.</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1491</TotalTime>
  <Words>540</Words>
  <Application>Microsoft Office PowerPoint</Application>
  <PresentationFormat>Widescreen</PresentationFormat>
  <Paragraphs>62</Paragraphs>
  <Slides>9</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Calibri</vt:lpstr>
      <vt:lpstr>Georgia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Crisis Standards of Care as Scaffolding</dc:title>
  <dc:subject>PptxGenJS Presentation</dc:subject>
  <dc:creator>CDR Brian S. Ford, MC, USN</dc:creator>
  <cp:lastModifiedBy>Brian Ford</cp:lastModifiedBy>
  <cp:revision>3</cp:revision>
  <dcterms:created xsi:type="dcterms:W3CDTF">2026-06-07T02:09:18Z</dcterms:created>
  <dcterms:modified xsi:type="dcterms:W3CDTF">2026-06-10T21:02:36Z</dcterms:modified>
</cp:coreProperties>
</file>